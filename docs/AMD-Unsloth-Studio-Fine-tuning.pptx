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229" r:id="rId62"/>
  </p:sldMasterIdLst>
  <p:notesMasterIdLst>
    <p:notesMasterId r:id="rId82"/>
  </p:notesMasterIdLst>
  <p:handoutMasterIdLst>
    <p:handoutMasterId r:id="rId83"/>
  </p:handoutMasterIdLst>
  <p:sldIdLst>
    <p:sldId id="256" r:id="rId63"/>
    <p:sldId id="274" r:id="rId64"/>
    <p:sldId id="257" r:id="rId65"/>
    <p:sldId id="258" r:id="rId66"/>
    <p:sldId id="259" r:id="rId67"/>
    <p:sldId id="260" r:id="rId68"/>
    <p:sldId id="261" r:id="rId69"/>
    <p:sldId id="262" r:id="rId70"/>
    <p:sldId id="275" r:id="rId89"/>
    <p:sldId id="276" r:id="rId90"/>
    <p:sldId id="263" r:id="rId71"/>
    <p:sldId id="264" r:id="rId72"/>
    <p:sldId id="265" r:id="rId73"/>
    <p:sldId id="266" r:id="rId74"/>
    <p:sldId id="267" r:id="rId75"/>
    <p:sldId id="268" r:id="rId76"/>
    <p:sldId id="269" r:id="rId77"/>
    <p:sldId id="270" r:id="rId78"/>
    <p:sldId id="271" r:id="rId79"/>
    <p:sldId id="277" r:id="rId91"/>
    <p:sldId id="278" r:id="rId92"/>
    <p:sldId id="272" r:id="rId80"/>
    <p:sldId id="273" r:id="rId81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8C95"/>
    <a:srgbClr val="000000"/>
    <a:srgbClr val="262626"/>
    <a:srgbClr val="131313"/>
    <a:srgbClr val="242428"/>
    <a:srgbClr val="19181C"/>
    <a:srgbClr val="E15310"/>
    <a:srgbClr val="006D85"/>
    <a:srgbClr val="888D91"/>
    <a:srgbClr val="0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38" autoAdjust="0"/>
    <p:restoredTop sz="97843" autoAdjust="0"/>
  </p:normalViewPr>
  <p:slideViewPr>
    <p:cSldViewPr snapToGrid="0">
      <p:cViewPr varScale="1">
        <p:scale>
          <a:sx n="113" d="100"/>
          <a:sy n="113" d="100"/>
        </p:scale>
        <p:origin x="171" y="57"/>
      </p:cViewPr>
      <p:guideLst/>
    </p:cSldViewPr>
  </p:slideViewPr>
  <p:outlineViewPr>
    <p:cViewPr>
      <p:scale>
        <a:sx n="33" d="100"/>
        <a:sy n="33" d="100"/>
      </p:scale>
      <p:origin x="0" y="-651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792"/>
    </p:cViewPr>
  </p:sorterViewPr>
  <p:notesViewPr>
    <p:cSldViewPr snapToGrid="0" showGuides="1">
      <p:cViewPr varScale="1">
        <p:scale>
          <a:sx n="168" d="100"/>
          <a:sy n="168" d="100"/>
        </p:scale>
        <p:origin x="5432" y="2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customXml" Target="../customXml/item40.xml"/><Relationship Id="rId41" Type="http://schemas.openxmlformats.org/officeDocument/2006/relationships/customXml" Target="../customXml/item41.xml"/><Relationship Id="rId42" Type="http://schemas.openxmlformats.org/officeDocument/2006/relationships/customXml" Target="../customXml/item42.xml"/><Relationship Id="rId43" Type="http://schemas.openxmlformats.org/officeDocument/2006/relationships/customXml" Target="../customXml/item43.xml"/><Relationship Id="rId44" Type="http://schemas.openxmlformats.org/officeDocument/2006/relationships/customXml" Target="../customXml/item44.xml"/><Relationship Id="rId45" Type="http://schemas.openxmlformats.org/officeDocument/2006/relationships/customXml" Target="../customXml/item45.xml"/><Relationship Id="rId46" Type="http://schemas.openxmlformats.org/officeDocument/2006/relationships/customXml" Target="../customXml/item46.xml"/><Relationship Id="rId47" Type="http://schemas.openxmlformats.org/officeDocument/2006/relationships/customXml" Target="../customXml/item47.xml"/><Relationship Id="rId48" Type="http://schemas.openxmlformats.org/officeDocument/2006/relationships/customXml" Target="../customXml/item48.xml"/><Relationship Id="rId49" Type="http://schemas.openxmlformats.org/officeDocument/2006/relationships/customXml" Target="../customXml/item49.xml"/><Relationship Id="rId50" Type="http://schemas.openxmlformats.org/officeDocument/2006/relationships/customXml" Target="../customXml/item50.xml"/><Relationship Id="rId51" Type="http://schemas.openxmlformats.org/officeDocument/2006/relationships/customXml" Target="../customXml/item51.xml"/><Relationship Id="rId52" Type="http://schemas.openxmlformats.org/officeDocument/2006/relationships/customXml" Target="../customXml/item52.xml"/><Relationship Id="rId53" Type="http://schemas.openxmlformats.org/officeDocument/2006/relationships/customXml" Target="../customXml/item53.xml"/><Relationship Id="rId54" Type="http://schemas.openxmlformats.org/officeDocument/2006/relationships/customXml" Target="../customXml/item54.xml"/><Relationship Id="rId55" Type="http://schemas.openxmlformats.org/officeDocument/2006/relationships/customXml" Target="../customXml/item55.xml"/><Relationship Id="rId56" Type="http://schemas.openxmlformats.org/officeDocument/2006/relationships/customXml" Target="../customXml/item56.xml"/><Relationship Id="rId57" Type="http://schemas.openxmlformats.org/officeDocument/2006/relationships/customXml" Target="../customXml/item57.xml"/><Relationship Id="rId58" Type="http://schemas.openxmlformats.org/officeDocument/2006/relationships/customXml" Target="../customXml/item58.xml"/><Relationship Id="rId59" Type="http://schemas.openxmlformats.org/officeDocument/2006/relationships/customXml" Target="../customXml/item59.xml"/><Relationship Id="rId60" Type="http://schemas.openxmlformats.org/officeDocument/2006/relationships/customXml" Target="../customXml/item60.xml"/><Relationship Id="rId61" Type="http://schemas.openxmlformats.org/officeDocument/2006/relationships/customXml" Target="../customXml/item61.xml"/><Relationship Id="rId62" Type="http://schemas.openxmlformats.org/officeDocument/2006/relationships/slideMaster" Target="slideMasters/slideMaster1.xml"/><Relationship Id="rId63" Type="http://schemas.openxmlformats.org/officeDocument/2006/relationships/slide" Target="slides/slide1.xml"/><Relationship Id="rId64" Type="http://schemas.openxmlformats.org/officeDocument/2006/relationships/slide" Target="slides/slide2.xml"/><Relationship Id="rId65" Type="http://schemas.openxmlformats.org/officeDocument/2006/relationships/slide" Target="slides/slide3.xml"/><Relationship Id="rId66" Type="http://schemas.openxmlformats.org/officeDocument/2006/relationships/slide" Target="slides/slide4.xml"/><Relationship Id="rId67" Type="http://schemas.openxmlformats.org/officeDocument/2006/relationships/slide" Target="slides/slide5.xml"/><Relationship Id="rId68" Type="http://schemas.openxmlformats.org/officeDocument/2006/relationships/slide" Target="slides/slide6.xml"/><Relationship Id="rId69" Type="http://schemas.openxmlformats.org/officeDocument/2006/relationships/slide" Target="slides/slide7.xml"/><Relationship Id="rId70" Type="http://schemas.openxmlformats.org/officeDocument/2006/relationships/slide" Target="slides/slide8.xml"/><Relationship Id="rId71" Type="http://schemas.openxmlformats.org/officeDocument/2006/relationships/slide" Target="slides/slide9.xml"/><Relationship Id="rId72" Type="http://schemas.openxmlformats.org/officeDocument/2006/relationships/slide" Target="slides/slide10.xml"/><Relationship Id="rId73" Type="http://schemas.openxmlformats.org/officeDocument/2006/relationships/slide" Target="slides/slide11.xml"/><Relationship Id="rId74" Type="http://schemas.openxmlformats.org/officeDocument/2006/relationships/slide" Target="slides/slide12.xml"/><Relationship Id="rId75" Type="http://schemas.openxmlformats.org/officeDocument/2006/relationships/slide" Target="slides/slide13.xml"/><Relationship Id="rId76" Type="http://schemas.openxmlformats.org/officeDocument/2006/relationships/slide" Target="slides/slide14.xml"/><Relationship Id="rId77" Type="http://schemas.openxmlformats.org/officeDocument/2006/relationships/slide" Target="slides/slide15.xml"/><Relationship Id="rId78" Type="http://schemas.openxmlformats.org/officeDocument/2006/relationships/slide" Target="slides/slide16.xml"/><Relationship Id="rId79" Type="http://schemas.openxmlformats.org/officeDocument/2006/relationships/slide" Target="slides/slide17.xml"/><Relationship Id="rId80" Type="http://schemas.openxmlformats.org/officeDocument/2006/relationships/slide" Target="slides/slide18.xml"/><Relationship Id="rId81" Type="http://schemas.openxmlformats.org/officeDocument/2006/relationships/slide" Target="slides/slide19.xml"/><Relationship Id="rId82" Type="http://schemas.openxmlformats.org/officeDocument/2006/relationships/notesMaster" Target="notesMasters/notesMaster1.xml"/><Relationship Id="rId83" Type="http://schemas.openxmlformats.org/officeDocument/2006/relationships/handoutMaster" Target="handoutMasters/handoutMaster1.xml"/><Relationship Id="rId84" Type="http://schemas.openxmlformats.org/officeDocument/2006/relationships/commentAuthors" Target="commentAuthors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Relationship Id="rId89" Type="http://schemas.openxmlformats.org/officeDocument/2006/relationships/slide" Target="slides/slide20.xml"/><Relationship Id="rId90" Type="http://schemas.openxmlformats.org/officeDocument/2006/relationships/slide" Target="slides/slide21.xml"/><Relationship Id="rId91" Type="http://schemas.openxmlformats.org/officeDocument/2006/relationships/slide" Target="slides/slide22.xml"/><Relationship Id="rId92" Type="http://schemas.openxmlformats.org/officeDocument/2006/relationships/slide" Target="slides/slide2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7">
            <a:extLst>
              <a:ext uri="{FF2B5EF4-FFF2-40B4-BE49-F238E27FC236}">
                <a16:creationId xmlns:a16="http://schemas.microsoft.com/office/drawing/2014/main" id="{6D9F846D-2CFB-BC42-A87F-3BBAB1736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88408BE6-8E91-914D-8FB2-836E9E3F52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053A4A9A-59E9-FE4E-8C48-82287B8CFB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10/2/2026 10:09 AM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ECC6F94-A19F-3C4E-B299-330922AF66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658813" y="684213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10/2/2026 10:07 AM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107052"/>
            <a:ext cx="5486400" cy="43511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67" rtl="0" eaLnBrk="1" latinLnBrk="0" hangingPunct="1">
      <a:lnSpc>
        <a:spcPct val="90000"/>
      </a:lnSpc>
      <a:spcAft>
        <a:spcPts val="333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1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Welcome. Today we fine-tune a small open model with Unsloth on an AMD Radeon GPU, and we teach it to play Sudoku using GRPO reinforcement learning. Hands-on: everyone gets a hosted Jupyter notebook on a real AMD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blocks. First half is concepts, second half is hands-on on the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Quick grounding before we touch the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 LLM predicts the next token. Base versus instruct matters when you pick a checkpoint: for GRPO from scratch we usually start from a base or a small instruct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Fine-tuning is not about teaching new facts so much as new behaviour: style, format, and task focus. It is frequently cheaper than prompt engineering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LoRA freezes the base model and trains small adapter matrices. QLoRA adds 4-bit quantization of the frozen base, which is what lets a workshop-size GPU handle a real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SFT needs the right answer written down. GRPO only needs a judge. For Sudoku we can check a board programmatically, so a reward function is easy and GRPO is the natural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Pick a small model first. SFT path: find or upload data. GRPO path: generate attempts and write a reward function. Then choose LoRA or QLoRA, train, evaluate. The knobs at the bottom are the ones you will actually touch in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Unsloth is the accelerator layer. Same Transformers API, materially less memory and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Now we switch to the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Sudoku for GRPO: correctness is checkable in code, so the reward function is a few lines. That is exactly the property GRPO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Everyone go to notebooks.amd.com/ind-dev now. Password RadeonUnslothTuning. Choose the Fine-Tuning LLMs with Unsloth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rocm-smi is the one you will keep open in a second tab. If utilisation is flat at zero while a cell shows an asterisk, something is running on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Cells run in order. The asterisk means the kernel is busy. Model download happens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Fifteen steps is a demo, not a converged run. What matters is that the reward is trending and the board output is structurally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 workshop issues are one of these six. Out of memory is the most common: QLoRA and a shorter sequence length fix it almost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links are on this slide. The notebook stays up after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you.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350259" y="1621536"/>
            <a:ext cx="6244333" cy="1941576"/>
          </a:xfrm>
          <a:noFill/>
        </p:spPr>
        <p:txBody>
          <a:bodyPr wrap="square" lIns="0" tIns="0" rIns="0" bIns="0" anchor="ctr" anchorCtr="0">
            <a:no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0260" y="3875650"/>
            <a:ext cx="6244332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D4C3E2-3CE7-EA80-DFF0-91F7D4F06C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86888" y="5771788"/>
            <a:ext cx="2359024" cy="6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5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21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ckup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8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Klavika Regular" panose="020B0604020202020204" pitchFamily="34" charset="0"/>
              <a:buChar char="•"/>
              <a:defRPr/>
            </a:lvl1pPr>
            <a:lvl2pPr marL="457200" indent="-228600">
              <a:buSzPct val="90000"/>
              <a:buFont typeface="Klavika Regular" panose="020B0604020202020204" pitchFamily="34" charset="0"/>
              <a:buChar char="•"/>
              <a:defRPr/>
            </a:lvl2pPr>
            <a:lvl3pPr marL="657225" indent="-200025">
              <a:buSzPct val="90000"/>
              <a:buFont typeface="Klavika Regular" panose="020B0604020202020204" pitchFamily="34" charset="0"/>
              <a:buChar char="•"/>
              <a:defRPr/>
            </a:lvl3pPr>
            <a:lvl4pPr marL="842963" indent="-180975">
              <a:buSzPct val="90000"/>
              <a:buFont typeface="Klavika Regular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Klavika Regular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2991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Klavika Regular" panose="020B0604020202020204" pitchFamily="34" charset="0"/>
              <a:buChar char="•"/>
              <a:defRPr/>
            </a:lvl1pPr>
            <a:lvl2pPr marL="457200" indent="-228600">
              <a:buSzPct val="90000"/>
              <a:buFont typeface="Klavika Regular" panose="020B0604020202020204" pitchFamily="34" charset="0"/>
              <a:buChar char="•"/>
              <a:defRPr/>
            </a:lvl2pPr>
            <a:lvl3pPr marL="657225" indent="-200025">
              <a:buSzPct val="90000"/>
              <a:buFont typeface="Klavika Regular" panose="020B0604020202020204" pitchFamily="34" charset="0"/>
              <a:buChar char="•"/>
              <a:defRPr/>
            </a:lvl3pPr>
            <a:lvl4pPr marL="842963" indent="-180975">
              <a:buSzPct val="90000"/>
              <a:buFont typeface="Klavika Regular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Klavika Regular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Klavika Regular" panose="020B0604020202020204" pitchFamily="34" charset="0"/>
              <a:buChar char="•"/>
              <a:defRPr/>
            </a:lvl1pPr>
            <a:lvl2pPr marL="457200" indent="-228600">
              <a:buSzPct val="90000"/>
              <a:buFont typeface="Klavika Regular" panose="020B0604020202020204" pitchFamily="34" charset="0"/>
              <a:buChar char="•"/>
              <a:defRPr/>
            </a:lvl2pPr>
            <a:lvl3pPr marL="657225" indent="-200025">
              <a:buSzPct val="90000"/>
              <a:buFont typeface="Klavika Regular" panose="020B0604020202020204" pitchFamily="34" charset="0"/>
              <a:buChar char="•"/>
              <a:defRPr/>
            </a:lvl3pPr>
            <a:lvl4pPr marL="842963" indent="-180975">
              <a:buSzPct val="90000"/>
              <a:buFont typeface="Klavika Regular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Klavika Regular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4536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20189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9845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38585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 userDrawn="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 userDrawn="1">
          <p15:clr>
            <a:srgbClr val="5ACBF0"/>
          </p15:clr>
        </p15:guide>
        <p15:guide id="29" orient="horz" pos="232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</p:spTree>
    <p:extLst>
      <p:ext uri="{BB962C8B-B14F-4D97-AF65-F5344CB8AC3E}">
        <p14:creationId xmlns:p14="http://schemas.microsoft.com/office/powerpoint/2010/main" val="260652885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8856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7239143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 userDrawn="1">
          <p15:clr>
            <a:srgbClr val="5ACBF0"/>
          </p15:clr>
        </p15:guide>
        <p15:guide id="8" orient="horz" pos="3648" userDrawn="1">
          <p15:clr>
            <a:srgbClr val="5ACBF0"/>
          </p15:clr>
        </p15:guide>
        <p15:guide id="10" pos="3720" userDrawn="1">
          <p15:clr>
            <a:srgbClr val="C35EA4"/>
          </p15:clr>
        </p15:guide>
        <p15:guide id="11" pos="2993">
          <p15:clr>
            <a:srgbClr val="5ACBF0"/>
          </p15:clr>
        </p15:guide>
        <p15:guide id="12" pos="3552" userDrawn="1">
          <p15:clr>
            <a:srgbClr val="A4A3A4"/>
          </p15:clr>
        </p15:guide>
        <p15:guide id="14" orient="horz" pos="1440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70049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, Lockup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6"/>
            <a:ext cx="7785402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D67B8-90AB-642F-D3C2-79B0D7999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217" y="5449153"/>
            <a:ext cx="2176078" cy="5186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1B2658-BBE5-FF50-3A49-A12C7B1EA044}"/>
              </a:ext>
            </a:extLst>
          </p:cNvPr>
          <p:cNvCxnSpPr/>
          <p:nvPr userDrawn="1"/>
        </p:nvCxnSpPr>
        <p:spPr>
          <a:xfrm>
            <a:off x="3418764" y="5137316"/>
            <a:ext cx="0" cy="1160060"/>
          </a:xfrm>
          <a:prstGeom prst="line">
            <a:avLst/>
          </a:prstGeom>
          <a:ln w="63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980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2955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and drop your photo here</a:t>
            </a:r>
            <a:br>
              <a:rPr lang="en-US" dirty="0"/>
            </a:br>
            <a:r>
              <a:rPr lang="en-US" dirty="0"/>
              <a:t>or click or tap icon below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9760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3122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486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 userDrawn="1">
          <p15:clr>
            <a:srgbClr val="5ACBF0"/>
          </p15:clr>
        </p15:guide>
        <p15:guide id="11" orient="horz" pos="1275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lavika Regular" panose="020B0604020202020204" pitchFamily="34" charset="0"/>
              <a:ea typeface="+mn-ea"/>
              <a:cs typeface="Klavika Regular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Klavika Regular" panose="020B0604020202020204"/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lavika Regular" panose="020B0604020202020204" pitchFamily="34" charset="0"/>
              <a:ea typeface="+mn-ea"/>
              <a:cs typeface="Klavika Regular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Klavika Regular" panose="020B0604020202020204"/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lavika Regular" panose="020B0604020202020204" pitchFamily="34" charset="0"/>
              <a:ea typeface="+mn-ea"/>
              <a:cs typeface="Klavika Regular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Klavika Regular" panose="020B0604020202020204"/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005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3574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63652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 userDrawn="1">
          <p15:clr>
            <a:srgbClr val="5ACBF0"/>
          </p15:clr>
        </p15:guide>
        <p15:guide id="11" orient="horz" pos="2455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&amp; drop a</a:t>
            </a:r>
            <a:br>
              <a:rPr lang="en-US" dirty="0"/>
            </a:br>
            <a:r>
              <a:rPr lang="en-US" dirty="0"/>
              <a:t>screenshot here</a:t>
            </a:r>
            <a:br>
              <a:rPr lang="en-US" dirty="0"/>
            </a:br>
            <a:r>
              <a:rPr lang="en-US" dirty="0"/>
              <a:t>or click or tap icon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3633176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9350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099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0255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104745"/>
            <a:ext cx="71803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Klavika Regular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680069"/>
            <a:ext cx="71803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Klavika Regular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3A967-0FBB-34B4-4FB2-6A371308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9010" y="3177856"/>
            <a:ext cx="2727281" cy="6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0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 userDrawn="1">
          <p15:clr>
            <a:srgbClr val="5ACBF0"/>
          </p15:clr>
        </p15:guide>
        <p15:guide id="4" orient="horz" pos="2364" userDrawn="1">
          <p15:clr>
            <a:srgbClr val="5ACBF0"/>
          </p15:clr>
        </p15:guide>
        <p15:guide id="5" pos="3840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31CD76-3727-5C5A-936C-21E39A69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" y="3200400"/>
            <a:ext cx="10997217" cy="1933360"/>
          </a:xfrm>
        </p:spPr>
        <p:txBody>
          <a:bodyPr anchor="b">
            <a:noAutofit/>
          </a:bodyPr>
          <a:lstStyle>
            <a:lvl1pPr>
              <a:defRPr sz="4000" spc="-20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67B108C-113D-497F-670A-DDAF72E89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80" y="5230505"/>
            <a:ext cx="10997217" cy="123171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A3218-9FBC-D7FF-A0AC-D9847C153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99" y="789515"/>
            <a:ext cx="2302302" cy="5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1814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705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30587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436688"/>
            <a:ext cx="11020425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00" indent="0">
              <a:buNone/>
              <a:defRPr sz="1100"/>
            </a:lvl2pPr>
            <a:lvl3pPr marL="457200" indent="0">
              <a:buNone/>
              <a:defRPr sz="1100"/>
            </a:lvl3pPr>
            <a:lvl4pPr marL="661988" indent="0">
              <a:buNone/>
              <a:defRPr sz="1100"/>
            </a:lvl4pPr>
            <a:lvl5pPr marL="855663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427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9C228-A98B-B784-A41C-3C84AE53BD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1447" y="2841633"/>
            <a:ext cx="4929105" cy="11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Relationship Id="rId3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Klavika Regular" panose="020B0604020202020204" pitchFamily="34" charset="0"/>
                <a:ea typeface="+mn-ea"/>
                <a:cs typeface="Klavika Regular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Klavika Regular" panose="020B0604020202020204" pitchFamily="34" charset="0"/>
              <a:ea typeface="+mn-ea"/>
              <a:cs typeface="Klavika Regular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 dirty="0">
                <a:solidFill>
                  <a:schemeClr val="bg1"/>
                </a:solidFill>
                <a:cs typeface="Klavika Regular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pic>
        <p:nvPicPr>
          <p:cNvPr id="54" name="Picture 5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07773B8-9BA9-711F-EB8B-F0AE5A2A58D1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8CABBE-77ED-B4FA-CA8E-1CB651D0088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920" r:id="rId1"/>
    <p:sldLayoutId id="2147484926" r:id="rId2"/>
    <p:sldLayoutId id="2147484928" r:id="rId3"/>
    <p:sldLayoutId id="2147484710" r:id="rId4"/>
    <p:sldLayoutId id="2147484240" r:id="rId5"/>
    <p:sldLayoutId id="2147484736" r:id="rId6"/>
    <p:sldLayoutId id="2147484474" r:id="rId7"/>
    <p:sldLayoutId id="2147484639" r:id="rId8"/>
    <p:sldLayoutId id="2147484603" r:id="rId9"/>
    <p:sldLayoutId id="2147484919" r:id="rId10"/>
    <p:sldLayoutId id="2147484751" r:id="rId11"/>
    <p:sldLayoutId id="2147484914" r:id="rId12"/>
    <p:sldLayoutId id="2147484835" r:id="rId13"/>
    <p:sldLayoutId id="2147484929" r:id="rId14"/>
    <p:sldLayoutId id="2147484836" r:id="rId15"/>
    <p:sldLayoutId id="2147484837" r:id="rId16"/>
    <p:sldLayoutId id="2147484838" r:id="rId17"/>
    <p:sldLayoutId id="2147484923" r:id="rId18"/>
    <p:sldLayoutId id="2147484925" r:id="rId19"/>
    <p:sldLayoutId id="2147484839" r:id="rId20"/>
    <p:sldLayoutId id="2147484922" r:id="rId21"/>
    <p:sldLayoutId id="2147484783" r:id="rId22"/>
    <p:sldLayoutId id="2147484784" r:id="rId23"/>
    <p:sldLayoutId id="2147484787" r:id="rId24"/>
    <p:sldLayoutId id="2147484249" r:id="rId25"/>
    <p:sldLayoutId id="2147484927" r:id="rId26"/>
    <p:sldLayoutId id="2147484671" r:id="rId27"/>
    <p:sldLayoutId id="2147484585" r:id="rId28"/>
    <p:sldLayoutId id="2147484924" r:id="rId29"/>
    <p:sldLayoutId id="2147484299" r:id="rId30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Klavika Regular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Klavika Regular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Klavika Regular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Klavika Regular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Klavika Regular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Klavika Regular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Klavika Regular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Klavika Regula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Klavika Regula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Klavika Regula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Klavika Regula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 userDrawn="1">
          <p15:clr>
            <a:srgbClr val="C35EA4"/>
          </p15:clr>
        </p15:guide>
        <p15:guide id="17" pos="7313" userDrawn="1">
          <p15:clr>
            <a:srgbClr val="C35EA4"/>
          </p15:clr>
        </p15:guide>
        <p15:guide id="25" orient="horz" pos="369" userDrawn="1">
          <p15:clr>
            <a:srgbClr val="C35EA4"/>
          </p15:clr>
        </p15:guide>
        <p15:guide id="26" orient="horz" pos="3949" userDrawn="1">
          <p15:clr>
            <a:srgbClr val="C35EA4"/>
          </p15:clr>
        </p15:guide>
        <p15:guide id="27" orient="horz" pos="184" userDrawn="1">
          <p15:clr>
            <a:srgbClr val="A4A3A4"/>
          </p15:clr>
        </p15:guide>
        <p15:guide id="28" pos="185" userDrawn="1">
          <p15:clr>
            <a:srgbClr val="A4A3A4"/>
          </p15:clr>
        </p15:guide>
        <p15:guide id="29" orient="horz" pos="4135" userDrawn="1">
          <p15:clr>
            <a:srgbClr val="A4A3A4"/>
          </p15:clr>
        </p15:guide>
        <p15:guide id="30" pos="7495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image" Target="../media/image11.png"/><Relationship Id="rId5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Relationship Id="rId4" Type="http://schemas.openxmlformats.org/officeDocument/2006/relationships/image" Target="../media/image12.png"/><Relationship Id="rId5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Relationship Id="rId4" Type="http://schemas.openxmlformats.org/officeDocument/2006/relationships/image" Target="../media/image15.png"/><Relationship Id="rId5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dirty="0">
                <a:solidFill>
                  <a:srgbClr val="FFFFFF"/>
                </a:solidFill>
                <a:latin typeface="Klavika Bold"/>
              </a:rPr>
              <a:t>AMD </a:t>
            </a:r>
            <a:r>
              <a:rPr sz="4000" b="0" dirty="0" err="1">
                <a:solidFill>
                  <a:srgbClr val="FFFFFF"/>
                </a:solidFill>
                <a:latin typeface="Klavika Bold"/>
              </a:rPr>
              <a:t>Unsloth</a:t>
            </a:r>
            <a:r>
              <a:rPr sz="4000" b="0" dirty="0">
                <a:solidFill>
                  <a:srgbClr val="FFFFFF"/>
                </a:solidFill>
                <a:latin typeface="Klavika Bold"/>
              </a:rPr>
              <a:t> Studio Fine-tuning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350260" y="3875650"/>
            <a:ext cx="6244332" cy="246221"/>
          </a:xfrm>
        </p:spPr>
        <p:txBody>
          <a:bodyPr/>
          <a:lstStyle/>
          <a:p>
            <a:r>
              <a:rPr lang="en-US" sz="1600" b="0" dirty="0">
                <a:solidFill>
                  <a:srgbClr val="C6C8CC"/>
                </a:solidFill>
                <a:latin typeface="Klavika Medium"/>
              </a:rPr>
              <a:t>Eddie Zhou</a:t>
            </a:r>
            <a:endParaRPr sz="1600" b="0" dirty="0">
              <a:solidFill>
                <a:srgbClr val="C6C8CC"/>
              </a:solidFill>
              <a:latin typeface="Klavika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FFFFFF"/>
                </a:solidFill>
                <a:latin typeface="Klavika Bold"/>
              </a:rPr>
              <a:t>Workshop access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2000" b="0" dirty="0">
                <a:solidFill>
                  <a:srgbClr val="C6C8CC"/>
                </a:solidFill>
                <a:latin typeface="Klavika Light"/>
              </a:rPr>
              <a:t>Studio: localhost:8890   Notebook: localhost:8888</a:t>
            </a:r>
            <a:r>
              <a:rPr sz="2000" b="0" dirty="0" err="1">
                <a:solidFill>
                  <a:srgbClr val="C6C8CC"/>
                </a:solidFill>
                <a:latin typeface="Klavika Light"/>
              </a:rPr>
              <a:t/>
            </a:r>
            <a:r>
              <a:rPr sz="2000" b="0" dirty="0">
                <a:solidFill>
                  <a:srgbClr val="C6C8CC"/>
                </a:solidFill>
                <a:latin typeface="Klavika Light"/>
              </a:rPr>
              <a:t/>
            </a:r>
          </a:p>
          <a:p>
            <a:r>
              <a:rPr sz="2400" b="1" dirty="0">
                <a:solidFill>
                  <a:srgbClr val="FFFFFF"/>
                </a:solidFill>
                <a:latin typeface="Klavika Bold"/>
              </a:rPr>
              <a:t>Studio password:  </a:t>
            </a:r>
            <a:r>
              <a:rPr sz="2400" b="1" dirty="0" err="1">
                <a:solidFill>
                  <a:srgbClr val="FFFFFF"/>
                </a:solidFill>
                <a:latin typeface="Klavika Bold"/>
              </a:rPr>
              <a:t>RyzenUnslothStudio</a:t>
            </a:r>
            <a:endParaRPr sz="2400" b="1" dirty="0">
              <a:solidFill>
                <a:srgbClr val="FFFFFF"/>
              </a:solidFill>
              <a:latin typeface="Klavika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0">
                <a:solidFill>
                  <a:srgbClr val="FFFFFF"/>
                </a:solidFill>
                <a:latin typeface="Klavika Bold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60520" y="1298448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60520" y="1298448"/>
            <a:ext cx="64008" cy="676656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434840" y="1453895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26522"/>
                </a:solidFill>
                <a:latin typeface="Klavika 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13990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Fine-tuning: what and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682495"/>
            <a:ext cx="63093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The problem it solves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2093976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520" y="2093976"/>
            <a:ext cx="64008" cy="676656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2249424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7C97"/>
                </a:solidFill>
                <a:latin typeface="Klavika 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1945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Types of fine-tuning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478024"/>
            <a:ext cx="63093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LoRA, QLoRA, SFT, GRPO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889504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2889504"/>
            <a:ext cx="64008" cy="67665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3044952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ED1C24"/>
                </a:solidFill>
                <a:latin typeface="Klavika 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99008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The Unsloth advantage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273552"/>
            <a:ext cx="63093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Faster, leaner, no-code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685031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60520" y="3685031"/>
            <a:ext cx="64008" cy="676656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3840479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dirty="0">
                <a:solidFill>
                  <a:srgbClr val="F26522"/>
                </a:solidFill>
                <a:latin typeface="Klavika Bol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785615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FFFFFF"/>
                </a:solidFill>
                <a:latin typeface="Klavika Bold"/>
              </a:rPr>
              <a:t>Support tickets to 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4069079"/>
            <a:ext cx="63093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The task we train for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4480560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60520" y="4480560"/>
            <a:ext cx="64008" cy="676656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4840" y="4636008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7C97"/>
                </a:solidFill>
                <a:latin typeface="Klavika Bol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581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AMD Radeon GPU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864608"/>
            <a:ext cx="63093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hipInfo and Task Manager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5276088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5276088"/>
            <a:ext cx="64008" cy="67665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34840" y="5431536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ED1C24"/>
                </a:solidFill>
                <a:latin typeface="Klavika Bold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53766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Hands-on in Studio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5660136"/>
            <a:ext cx="63093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Train, test and export a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FFFFFF"/>
                </a:solidFill>
                <a:latin typeface="Klavika Bold"/>
              </a:rPr>
              <a:t>Part 1: The Concepts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1800" b="1" dirty="0">
                <a:solidFill>
                  <a:srgbClr val="C6C8CC"/>
                </a:solidFill>
                <a:latin typeface="Klavika Light"/>
              </a:rPr>
              <a:t>What a model is, what fine-tuning changes, and how SFT learns from examples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What is a Large Language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98448"/>
            <a:ext cx="6766560" cy="1099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dirty="0">
                <a:solidFill>
                  <a:srgbClr val="D8DADE"/>
                </a:solidFill>
                <a:latin typeface="Klavika Regular"/>
              </a:rPr>
              <a:t>A neural network trained on a huge amount of text so it can predict </a:t>
            </a:r>
            <a:r>
              <a:rPr sz="1700" b="1" dirty="0">
                <a:solidFill>
                  <a:srgbClr val="FFFFFF"/>
                </a:solidFill>
                <a:latin typeface="Klavika Bold"/>
              </a:rPr>
              <a:t>the next token</a:t>
            </a:r>
            <a:r>
              <a:rPr sz="1700" b="0" dirty="0">
                <a:solidFill>
                  <a:srgbClr val="D8DADE"/>
                </a:solidFill>
                <a:latin typeface="Klavika Regular"/>
              </a:rPr>
              <a:t> given what came before.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US" sz="1500" b="0" dirty="0">
                <a:solidFill>
                  <a:srgbClr val="C6C8CC"/>
                </a:solidFill>
                <a:latin typeface="Klavika Regular"/>
              </a:rPr>
              <a:t>This ability enables models to </a:t>
            </a:r>
            <a:r>
              <a:rPr sz="1500" b="0" dirty="0">
                <a:solidFill>
                  <a:srgbClr val="C6C8CC"/>
                </a:solidFill>
                <a:latin typeface="Klavika Regular"/>
              </a:rPr>
              <a:t>chat, summari</a:t>
            </a:r>
            <a:r>
              <a:rPr lang="en-US" sz="1500" b="0" dirty="0">
                <a:solidFill>
                  <a:srgbClr val="C6C8CC"/>
                </a:solidFill>
                <a:latin typeface="Klavika Regular"/>
              </a:rPr>
              <a:t>z</a:t>
            </a:r>
            <a:r>
              <a:rPr sz="1500" b="0" dirty="0">
                <a:solidFill>
                  <a:srgbClr val="C6C8CC"/>
                </a:solidFill>
                <a:latin typeface="Klavika Regular"/>
              </a:rPr>
              <a:t>e, write code and reason.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35240" y="1188720"/>
            <a:ext cx="3968496" cy="1691640"/>
          </a:xfrm>
          <a:prstGeom prst="rect">
            <a:avLst/>
          </a:prstGeom>
          <a:solidFill>
            <a:srgbClr val="101010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81544" y="1325880"/>
            <a:ext cx="100584" cy="100584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964423" y="1325880"/>
            <a:ext cx="100584" cy="100584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147304" y="1325880"/>
            <a:ext cx="100584" cy="100584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0" y="1316736"/>
            <a:ext cx="305409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6C8CC"/>
                </a:solidFill>
                <a:latin typeface="Consolas"/>
              </a:rPr>
              <a:t>next-token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9831" y="1609344"/>
            <a:ext cx="363931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>
                <a:solidFill>
                  <a:srgbClr val="C6C8CC"/>
                </a:solidFill>
                <a:latin typeface="Consolas"/>
              </a:rPr>
              <a:t>prompt &gt;  The capital of France is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endParaRPr sz="1100" b="0" dirty="0">
              <a:solidFill>
                <a:srgbClr val="C6C8CC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>
                <a:solidFill>
                  <a:srgbClr val="00A8CC"/>
                </a:solidFill>
                <a:latin typeface="Consolas"/>
              </a:rPr>
              <a:t>  Paris      0.94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>
                <a:solidFill>
                  <a:srgbClr val="C6C8CC"/>
                </a:solidFill>
                <a:latin typeface="Consolas"/>
              </a:rPr>
              <a:t>  a city     0.03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>
                <a:solidFill>
                  <a:srgbClr val="C6C8CC"/>
                </a:solidFill>
                <a:latin typeface="Consolas"/>
              </a:rPr>
              <a:t>  located    0.01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3246120"/>
            <a:ext cx="3489960" cy="2103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216" y="3246120"/>
            <a:ext cx="348996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3575303"/>
            <a:ext cx="297789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Klavika Bold"/>
              </a:rPr>
              <a:t>Base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032504"/>
            <a:ext cx="2977896" cy="737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dirty="0">
                <a:solidFill>
                  <a:srgbClr val="D8DADE"/>
                </a:solidFill>
                <a:latin typeface="Klavika Regular"/>
              </a:rPr>
              <a:t>Raw next-token predictors. Great starting point for training</a:t>
            </a:r>
            <a:r>
              <a:rPr lang="en-US" sz="1350" b="0" dirty="0">
                <a:solidFill>
                  <a:srgbClr val="D8DADE"/>
                </a:solidFill>
                <a:latin typeface="Klavika Regular"/>
              </a:rPr>
              <a:t> but</a:t>
            </a:r>
            <a:r>
              <a:rPr sz="1350" b="0" dirty="0">
                <a:solidFill>
                  <a:srgbClr val="D8DADE"/>
                </a:solidFill>
                <a:latin typeface="Klavika Regular"/>
              </a:rPr>
              <a:t> awkward to chat with.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9496" y="3246120"/>
            <a:ext cx="3489960" cy="2103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9496" y="3246120"/>
            <a:ext cx="348996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05528" y="3575303"/>
            <a:ext cx="297789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Klavika Bold"/>
              </a:rPr>
              <a:t>Instruct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5528" y="4032504"/>
            <a:ext cx="2977896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dirty="0">
                <a:solidFill>
                  <a:srgbClr val="D8DADE"/>
                </a:solidFill>
                <a:latin typeface="Klavika Regular"/>
              </a:rPr>
              <a:t>Further trained to follow instructions and hold a conversation.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3776" y="3246120"/>
            <a:ext cx="3489960" cy="2103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13776" y="3246120"/>
            <a:ext cx="3489960" cy="6400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9808" y="3575303"/>
            <a:ext cx="297789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Klavika Bold"/>
              </a:rPr>
              <a:t>Generalists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9808" y="4032504"/>
            <a:ext cx="2977896" cy="737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dirty="0">
                <a:solidFill>
                  <a:srgbClr val="D8DADE"/>
                </a:solidFill>
                <a:latin typeface="Klavika Regular"/>
              </a:rPr>
              <a:t>Llama, Qwen, Mistral on Hugging Face know a bit of everythin</a:t>
            </a:r>
            <a:r>
              <a:rPr lang="en-US" sz="1350" b="0" dirty="0">
                <a:solidFill>
                  <a:srgbClr val="D8DADE"/>
                </a:solidFill>
                <a:latin typeface="Klavika Regular"/>
              </a:rPr>
              <a:t>g, but not something specific to you</a:t>
            </a:r>
            <a:r>
              <a:rPr sz="1350" b="0" dirty="0">
                <a:solidFill>
                  <a:srgbClr val="D8DADE"/>
                </a:solidFill>
                <a:latin typeface="Klavika Regular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What is fine-tuning? Why do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80160"/>
            <a:ext cx="11018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D8DADE"/>
                </a:solidFill>
                <a:latin typeface="Klavika Regular"/>
              </a:rPr>
              <a:t>Take a pre-trained model and keep training it a little more on </a:t>
            </a:r>
            <a:r>
              <a:rPr sz="1700" b="1">
                <a:solidFill>
                  <a:srgbClr val="F26522"/>
                </a:solidFill>
                <a:latin typeface="Klavika Bold"/>
              </a:rPr>
              <a:t>YOUR</a:t>
            </a:r>
            <a:r>
              <a:rPr sz="1700" b="0">
                <a:solidFill>
                  <a:srgbClr val="D8DADE"/>
                </a:solidFill>
                <a:latin typeface="Klavika Regular"/>
              </a:rPr>
              <a:t> data, so it adapts to </a:t>
            </a:r>
            <a:r>
              <a:rPr sz="1700" b="1">
                <a:solidFill>
                  <a:srgbClr val="F26522"/>
                </a:solidFill>
                <a:latin typeface="Klavika Bold"/>
              </a:rPr>
              <a:t>YOUR</a:t>
            </a:r>
            <a:r>
              <a:rPr sz="1700" b="0">
                <a:solidFill>
                  <a:srgbClr val="D8DADE"/>
                </a:solidFill>
                <a:latin typeface="Klavika Regular"/>
              </a:rPr>
              <a:t> task, domain, tone or format.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148840"/>
            <a:ext cx="2548890" cy="1847088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6" y="2148840"/>
            <a:ext cx="254889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2441448"/>
            <a:ext cx="384048" cy="38404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Klavika 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207340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82696"/>
            <a:ext cx="207340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D8DADE"/>
                </a:solidFill>
                <a:latin typeface="Klavika Regular"/>
              </a:rPr>
              <a:t>Speak in a specific style or persona: your brand, your support agent.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8426" y="2148840"/>
            <a:ext cx="2548890" cy="1847088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08426" y="2148840"/>
            <a:ext cx="254889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46170" y="2441448"/>
            <a:ext cx="384048" cy="384048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Klavika 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6170" y="2971800"/>
            <a:ext cx="207340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6170" y="3282696"/>
            <a:ext cx="207340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D8DADE"/>
                </a:solidFill>
                <a:latin typeface="Klavika Regular"/>
              </a:rPr>
              <a:t>Know legal, medical, or your own product documentation.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2148840"/>
            <a:ext cx="2548890" cy="1847088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31636" y="2148840"/>
            <a:ext cx="2548890" cy="6400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69379" y="2441448"/>
            <a:ext cx="384048" cy="384048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Klavika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9379" y="2971800"/>
            <a:ext cx="207340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Format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79" y="3282696"/>
            <a:ext cx="2073402" cy="435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D8DADE"/>
                </a:solidFill>
                <a:latin typeface="Klavika Regular"/>
              </a:rPr>
              <a:t>Always return JSON. Always cite sources</a:t>
            </a:r>
            <a:r>
              <a:rPr lang="en-US" sz="1250" b="0" dirty="0">
                <a:solidFill>
                  <a:srgbClr val="D8DADE"/>
                </a:solidFill>
                <a:latin typeface="Klavika Regular"/>
              </a:rPr>
              <a:t>.</a:t>
            </a:r>
            <a:endParaRPr sz="1250" b="0" dirty="0">
              <a:solidFill>
                <a:srgbClr val="D8DADE"/>
              </a:solidFill>
              <a:latin typeface="Klavika Regula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054846" y="2148840"/>
            <a:ext cx="2548890" cy="1847088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54846" y="2148840"/>
            <a:ext cx="254889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292590" y="2441448"/>
            <a:ext cx="384048" cy="38404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Klavika 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2590" y="2971800"/>
            <a:ext cx="207340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2590" y="3282696"/>
            <a:ext cx="207340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Do one narrow task extremely well, cheaply, on a small model.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" y="4315968"/>
            <a:ext cx="11018520" cy="84124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5216" y="4315968"/>
            <a:ext cx="64008" cy="84124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" y="4462272"/>
            <a:ext cx="10378440" cy="5439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dirty="0">
                <a:solidFill>
                  <a:srgbClr val="FFFFFF"/>
                </a:solidFill>
                <a:latin typeface="Klavika Bold"/>
              </a:rPr>
              <a:t>Often cheaper and more reliable</a:t>
            </a:r>
            <a:r>
              <a:rPr sz="1450" b="0" dirty="0">
                <a:solidFill>
                  <a:srgbClr val="D8DADE"/>
                </a:solidFill>
                <a:latin typeface="Klavika Regular"/>
              </a:rPr>
              <a:t> than stuffing everything into a giant prompt or paying for an even bigger model. </a:t>
            </a:r>
            <a:r>
              <a:rPr sz="1450" b="1" dirty="0">
                <a:solidFill>
                  <a:srgbClr val="00A8CC"/>
                </a:solidFill>
                <a:latin typeface="Klavika Bold"/>
              </a:rPr>
              <a:t>It lets a small model punch above its weight.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LoRA and QLoRA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80160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dirty="0">
                <a:solidFill>
                  <a:srgbClr val="D8DADE"/>
                </a:solidFill>
                <a:latin typeface="Klavika Regular"/>
              </a:rPr>
              <a:t>Parameter-efficient fine-tuning: freeze the giant model, train a tiny adapter.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20240"/>
            <a:ext cx="5349240" cy="23317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6" y="1920240"/>
            <a:ext cx="53492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8" y="2212848"/>
            <a:ext cx="1051560" cy="274320"/>
          </a:xfrm>
          <a:prstGeom prst="round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2536" y="224942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6C8CC"/>
                </a:solidFill>
                <a:latin typeface="Klavika Medium"/>
              </a:rPr>
              <a:t>Low-Rank Adaptation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697480"/>
            <a:ext cx="4837176" cy="828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Inject small low-rank matrices into chosen layers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Original weights stay frozen, only adapters </a:t>
            </a:r>
            <a:r>
              <a:rPr lang="en-US" sz="1350" dirty="0">
                <a:solidFill>
                  <a:srgbClr val="D8DADE"/>
                </a:solidFill>
                <a:latin typeface="Klavika Regular"/>
              </a:rPr>
              <a:t>are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train</a:t>
            </a:r>
            <a:r>
              <a:rPr lang="en-US" sz="1350" dirty="0">
                <a:solidFill>
                  <a:srgbClr val="D8DADE"/>
                </a:solidFill>
                <a:latin typeface="Klavika Regular"/>
              </a:rPr>
              <a:t>ed</a:t>
            </a:r>
            <a:endParaRPr sz="1350" dirty="0">
              <a:solidFill>
                <a:srgbClr val="D8DADE"/>
              </a:solidFill>
              <a:latin typeface="Klavika Regular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Trainable parameters drop by orders of magnitude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4496" y="1920240"/>
            <a:ext cx="5349240" cy="23317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54496" y="1920240"/>
            <a:ext cx="534924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10528" y="2212848"/>
            <a:ext cx="1051560" cy="274320"/>
          </a:xfrm>
          <a:prstGeom prst="round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QLoRA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1816" y="224942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6C8CC"/>
                </a:solidFill>
                <a:latin typeface="Klavika Medium"/>
              </a:rPr>
              <a:t>Quantized Low-Rank Adaptation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697480"/>
            <a:ext cx="4837176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Everything </a:t>
            </a:r>
            <a:r>
              <a:rPr sz="1350" dirty="0" err="1">
                <a:solidFill>
                  <a:srgbClr val="D8DADE"/>
                </a:solidFill>
                <a:latin typeface="Klavika Regular"/>
              </a:rPr>
              <a:t>LoRA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 does, plus a 4-bit base model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Cuts VRAM again, so bigger models fit on one GPU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The usual answer to an out-of-memory error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" y="4572000"/>
            <a:ext cx="3489960" cy="118872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5216" y="4572000"/>
            <a:ext cx="64008" cy="118872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4773168"/>
            <a:ext cx="29413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F26522"/>
                </a:solidFill>
                <a:latin typeface="Klavika Bold"/>
              </a:rPr>
              <a:t>~1%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321808"/>
            <a:ext cx="2941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of weights trained today (23M)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9496" y="4572000"/>
            <a:ext cx="3489960" cy="118872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49496" y="4572000"/>
            <a:ext cx="64008" cy="118872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23816" y="4773168"/>
            <a:ext cx="29413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007C97"/>
                </a:solidFill>
                <a:latin typeface="Klavika Bold"/>
              </a:rPr>
              <a:t>4-bit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3816" y="5321808"/>
            <a:ext cx="2941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base weights under QLoRA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3776" y="4572000"/>
            <a:ext cx="3489960" cy="118872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13776" y="4572000"/>
            <a:ext cx="64008" cy="118872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88096" y="4773168"/>
            <a:ext cx="29413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ED1C24"/>
                </a:solidFill>
                <a:latin typeface="Klavika Bold"/>
              </a:rPr>
              <a:t>Comparable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8096" y="5321808"/>
            <a:ext cx="2941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D8DADE"/>
                </a:solidFill>
                <a:latin typeface="Klavika Regular"/>
              </a:rPr>
              <a:t>quality to full fine-tuning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Training methodology: SFT and GRPO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80160"/>
            <a:ext cx="11018520" cy="2716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dirty="0">
                <a:solidFill>
                  <a:srgbClr val="D8DADE"/>
                </a:solidFill>
                <a:latin typeface="Klavika Regular"/>
              </a:rPr>
              <a:t>Two ways to tell a model it did well. </a:t>
            </a:r>
            <a:r>
              <a:rPr lang="en-US" sz="1600" b="0" dirty="0">
                <a:solidFill>
                  <a:srgbClr val="D8DADE"/>
                </a:solidFill>
                <a:latin typeface="Klavika Regular"/>
              </a:rPr>
              <a:t>SFT</a:t>
            </a:r>
            <a:r>
              <a:rPr lang="en-US" dirty="0"/>
              <a:t> </a:t>
            </a:r>
            <a:r>
              <a:rPr sz="1600" b="0" dirty="0">
                <a:solidFill>
                  <a:srgbClr val="D8DADE"/>
                </a:solidFill>
                <a:latin typeface="Klavika Regular"/>
              </a:rPr>
              <a:t>shows the answer,</a:t>
            </a:r>
            <a:r>
              <a:rPr lang="en-US" sz="1600" b="0" dirty="0">
                <a:solidFill>
                  <a:srgbClr val="D8DADE"/>
                </a:solidFill>
                <a:latin typeface="Klavika Regular"/>
              </a:rPr>
              <a:t> while GRPO </a:t>
            </a:r>
            <a:r>
              <a:rPr sz="1600" b="0" dirty="0">
                <a:solidFill>
                  <a:srgbClr val="D8DADE"/>
                </a:solidFill>
                <a:latin typeface="Klavika Regular"/>
              </a:rPr>
              <a:t>scores attempts.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874519"/>
            <a:ext cx="5349240" cy="3246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6" y="1874519"/>
            <a:ext cx="53492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9536" y="2185415"/>
            <a:ext cx="777240" cy="274320"/>
          </a:xfrm>
          <a:prstGeom prst="round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SFT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2221991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Supervised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79191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Uses labelled data: prompt in, correct answer out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The model imitates the answers you supply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3630168"/>
            <a:ext cx="4800600" cy="1234440"/>
          </a:xfrm>
          <a:prstGeom prst="rect">
            <a:avLst/>
          </a:prstGeom>
          <a:solidFill>
            <a:srgbClr val="101010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7" y="3794759"/>
            <a:ext cx="4471416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dirty="0">
                <a:solidFill>
                  <a:srgbClr val="C6C8CC"/>
                </a:solidFill>
                <a:latin typeface="Consolas"/>
              </a:rPr>
              <a:t>{"messages": [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dirty="0">
                <a:solidFill>
                  <a:srgbClr val="C6C8CC"/>
                </a:solidFill>
                <a:latin typeface="Consolas"/>
              </a:rPr>
              <a:t>  {"role": "user", "content": "&lt;support message&gt;"},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dirty="0">
                <a:solidFill>
                  <a:srgbClr val="00A8CC"/>
                </a:solidFill>
                <a:latin typeface="Consolas"/>
              </a:rPr>
              <a:t>  {"role": "assistant", "content": "&lt;ticket JSON&gt;"}]}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1874519"/>
            <a:ext cx="5349240" cy="3246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54496" y="1874519"/>
            <a:ext cx="534924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28816" y="2185415"/>
            <a:ext cx="960120" cy="274320"/>
          </a:xfrm>
          <a:prstGeom prst="round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GRPO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2221991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Group Relative Policy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679191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No labelled answer needed, only a way to score one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Model generates a group of attempts and compares them</a:t>
            </a:r>
          </a:p>
        </p:txBody>
      </p:sp>
      <p:sp>
        <p:nvSpPr>
          <p:cNvPr id="16" name="Oval 15"/>
          <p:cNvSpPr/>
          <p:nvPr/>
        </p:nvSpPr>
        <p:spPr>
          <a:xfrm>
            <a:off x="6565392" y="3703320"/>
            <a:ext cx="274320" cy="274320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3721607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FFFFFF"/>
                </a:solidFill>
                <a:latin typeface="Klavika Bold"/>
              </a:rPr>
              <a:t>Generate  </a:t>
            </a:r>
            <a:r>
              <a:rPr sz="1250" b="0" dirty="0">
                <a:solidFill>
                  <a:srgbClr val="D8DADE"/>
                </a:solidFill>
                <a:latin typeface="Klavika Regular"/>
              </a:rPr>
              <a:t>several candidate answers</a:t>
            </a:r>
          </a:p>
        </p:txBody>
      </p:sp>
      <p:sp>
        <p:nvSpPr>
          <p:cNvPr id="18" name="Oval 17"/>
          <p:cNvSpPr/>
          <p:nvPr/>
        </p:nvSpPr>
        <p:spPr>
          <a:xfrm>
            <a:off x="6565392" y="4087368"/>
            <a:ext cx="274320" cy="274320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4105655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Klavika Bold"/>
              </a:rPr>
              <a:t>Score  </a:t>
            </a:r>
            <a:r>
              <a:rPr sz="1250" b="0">
                <a:solidFill>
                  <a:srgbClr val="D8DADE"/>
                </a:solidFill>
                <a:latin typeface="Klavika Regular"/>
              </a:rPr>
              <a:t>each with a reward function</a:t>
            </a:r>
          </a:p>
        </p:txBody>
      </p:sp>
      <p:sp>
        <p:nvSpPr>
          <p:cNvPr id="20" name="Oval 19"/>
          <p:cNvSpPr/>
          <p:nvPr/>
        </p:nvSpPr>
        <p:spPr>
          <a:xfrm>
            <a:off x="6565392" y="4471416"/>
            <a:ext cx="274320" cy="274320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4489703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Klavika Bold"/>
              </a:rPr>
              <a:t>Prefer  </a:t>
            </a:r>
            <a:r>
              <a:rPr sz="1250" b="0">
                <a:solidFill>
                  <a:srgbClr val="D8DADE"/>
                </a:solidFill>
                <a:latin typeface="Klavika Regular"/>
              </a:rPr>
              <a:t>the ones that scored above the group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The fine-tuning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6187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6C8CC"/>
                </a:solidFill>
                <a:latin typeface="Klavika Regular"/>
              </a:rPr>
              <a:t>Same spine either way. The data step is what differs.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2788920"/>
            <a:ext cx="2103120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6" y="2788920"/>
            <a:ext cx="54864" cy="96012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2953512"/>
            <a:ext cx="16916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Pick 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246120"/>
            <a:ext cx="1691639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Start small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98064" y="3200400"/>
            <a:ext cx="292608" cy="146304"/>
          </a:xfrm>
          <a:prstGeom prst="rightArrow">
            <a:avLst/>
          </a:prstGeom>
          <a:solidFill>
            <a:srgbClr val="777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127248" y="1965960"/>
            <a:ext cx="2788920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27248" y="1965960"/>
            <a:ext cx="54864" cy="96012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46704" y="2130552"/>
            <a:ext cx="23774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SFT: pick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2423160"/>
            <a:ext cx="2377439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Hugging Face, public sets, or upload your 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3611880"/>
            <a:ext cx="2788920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27248" y="3611880"/>
            <a:ext cx="54864" cy="96012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46704" y="3776472"/>
            <a:ext cx="23774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GRPO: generate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4069080"/>
            <a:ext cx="2377439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Define the reward function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35040" y="3200400"/>
            <a:ext cx="292608" cy="146304"/>
          </a:xfrm>
          <a:prstGeom prst="rightArrow">
            <a:avLst/>
          </a:prstGeom>
          <a:solidFill>
            <a:srgbClr val="777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92240" y="2788920"/>
            <a:ext cx="1828800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92240" y="2788920"/>
            <a:ext cx="54864" cy="96012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11696" y="295351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Choose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3246120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LoRA or QLoRA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30768" y="3200400"/>
            <a:ext cx="292608" cy="146304"/>
          </a:xfrm>
          <a:prstGeom prst="rightArrow">
            <a:avLst/>
          </a:prstGeom>
          <a:solidFill>
            <a:srgbClr val="777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732520" y="2788920"/>
            <a:ext cx="1207008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32520" y="2788920"/>
            <a:ext cx="54864" cy="96012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51976" y="2953512"/>
            <a:ext cx="7955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Train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049256" y="3200400"/>
            <a:ext cx="292608" cy="146304"/>
          </a:xfrm>
          <a:prstGeom prst="rightArrow">
            <a:avLst/>
          </a:prstGeom>
          <a:solidFill>
            <a:srgbClr val="777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341864" y="2788920"/>
            <a:ext cx="1261872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341864" y="2788920"/>
            <a:ext cx="54864" cy="96012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61320" y="2953512"/>
            <a:ext cx="8503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Evaluate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" y="4892040"/>
            <a:ext cx="11018520" cy="100584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5216" y="4892040"/>
            <a:ext cx="64008" cy="100584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7824" y="5056631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Training knobs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5422392"/>
            <a:ext cx="246202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00A8CC"/>
                </a:solidFill>
                <a:latin typeface="Consolas"/>
              </a:rPr>
              <a:t>learning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1014" y="5422392"/>
            <a:ext cx="246202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00A8CC"/>
                </a:solidFill>
                <a:latin typeface="Consolas"/>
              </a:rPr>
              <a:t>number of steps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5916" y="5422392"/>
            <a:ext cx="246202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00A8CC"/>
                </a:solidFill>
                <a:latin typeface="Consolas"/>
              </a:rPr>
              <a:t>time limit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0818" y="5422392"/>
            <a:ext cx="246202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00A8CC"/>
                </a:solidFill>
                <a:latin typeface="Consolas"/>
              </a:rPr>
              <a:t>max sequence length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Unsloth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61872"/>
            <a:ext cx="74066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8DADE"/>
                </a:solidFill>
                <a:latin typeface="Klavika Regular"/>
              </a:rPr>
              <a:t>An open-source, no-code framework and UI for training, running and exporting LLMs </a:t>
            </a:r>
            <a:r>
              <a:rPr sz="1600" b="1">
                <a:solidFill>
                  <a:srgbClr val="FFFFFF"/>
                </a:solidFill>
                <a:latin typeface="Klavika Bold"/>
              </a:rPr>
              <a:t>locally</a:t>
            </a:r>
            <a:r>
              <a:rPr sz="1600" b="0">
                <a:solidFill>
                  <a:srgbClr val="D8DADE"/>
                </a:solidFill>
                <a:latin typeface="Klavika Regular"/>
              </a:rPr>
              <a:t>, tuned for speed, memory efficiency and accessibility.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600"/>
              </a:spcAft>
            </a:pPr>
            <a:r>
              <a:rPr sz="1400" b="0">
                <a:solidFill>
                  <a:srgbClr val="C6C8CC"/>
                </a:solidFill>
                <a:latin typeface="Klavika Regular"/>
              </a:rPr>
              <a:t>It sits as an optimized layer on top of Hugging Face Transformers, so your existing workflow still applies.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788920"/>
            <a:ext cx="2548890" cy="169164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6" y="2788920"/>
            <a:ext cx="254889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172968"/>
            <a:ext cx="207340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Klavika Bold"/>
              </a:rPr>
              <a:t>LoRA and QLoRA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13048"/>
            <a:ext cx="2073402" cy="2140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50" dirty="0">
                <a:solidFill>
                  <a:srgbClr val="D8DADE"/>
                </a:solidFill>
                <a:latin typeface="Klavika Regular"/>
              </a:rPr>
              <a:t>bu</a:t>
            </a:r>
            <a:r>
              <a:rPr sz="1250" b="0" dirty="0">
                <a:solidFill>
                  <a:srgbClr val="D8DADE"/>
                </a:solidFill>
                <a:latin typeface="Klavika Regular"/>
              </a:rPr>
              <a:t>ilt</a:t>
            </a:r>
            <a:r>
              <a:rPr lang="en-US" sz="1250" b="0" dirty="0">
                <a:solidFill>
                  <a:srgbClr val="D8DADE"/>
                </a:solidFill>
                <a:latin typeface="Klavika Regular"/>
              </a:rPr>
              <a:t>-</a:t>
            </a:r>
            <a:r>
              <a:rPr sz="1250" b="0" dirty="0">
                <a:solidFill>
                  <a:srgbClr val="D8DADE"/>
                </a:solidFill>
                <a:latin typeface="Klavika Regular"/>
              </a:rPr>
              <a:t>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8426" y="2788920"/>
            <a:ext cx="2548890" cy="169164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08426" y="2788920"/>
            <a:ext cx="254889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46170" y="3172968"/>
            <a:ext cx="207340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Klavika Bold"/>
              </a:rPr>
              <a:t>Quantization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6170" y="3813048"/>
            <a:ext cx="207340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4-bit and 8-bit paths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788920"/>
            <a:ext cx="2548890" cy="169164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2788920"/>
            <a:ext cx="2548890" cy="6400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9379" y="3172968"/>
            <a:ext cx="207340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Klavika Bold"/>
              </a:rPr>
              <a:t>Optimized kernels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9379" y="3813048"/>
            <a:ext cx="207340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faster attention and MLP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4846" y="2788920"/>
            <a:ext cx="2548890" cy="169164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54846" y="2788920"/>
            <a:ext cx="254889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92590" y="3172968"/>
            <a:ext cx="207340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Klavika Bold"/>
              </a:rPr>
              <a:t>Consumer 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2590" y="3813048"/>
            <a:ext cx="207340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one GPU is enough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4754880"/>
            <a:ext cx="11018520" cy="100584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5216" y="4754880"/>
            <a:ext cx="64008" cy="100584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4937760"/>
            <a:ext cx="10378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dirty="0">
                <a:solidFill>
                  <a:srgbClr val="FFFFFF"/>
                </a:solidFill>
                <a:latin typeface="Klavika Bold"/>
              </a:rPr>
              <a:t>In this workshop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dirty="0" err="1">
                <a:solidFill>
                  <a:srgbClr val="D8DADE"/>
                </a:solidFill>
                <a:latin typeface="Klavika Regular"/>
              </a:rPr>
              <a:t>Unsloth Studio</a:t>
            </a:r>
            <a:r>
              <a:rPr sz="1400" b="0" dirty="0">
                <a:solidFill>
                  <a:srgbClr val="D8DADE"/>
                </a:solidFill>
                <a:latin typeface="Klavika Regular"/>
              </a:rPr>
              <a:t> runs the whole process in your browser, from picking a model to exporting the result, without writing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FFFFFF"/>
                </a:solidFill>
                <a:latin typeface="Klavika Bold"/>
              </a:rPr>
              <a:t>Part 2: Hands-On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1800" b="0">
                <a:solidFill>
                  <a:srgbClr val="C6C8CC"/>
                </a:solidFill>
                <a:latin typeface="Klavika Light"/>
              </a:rPr>
              <a:t>Support tickets to JSON, an AMD Radeon GPU, and Unsloth Studio you drive yourself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Support tickets to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325880"/>
            <a:ext cx="60350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dirty="0">
                <a:solidFill>
                  <a:srgbClr val="D8DADE"/>
                </a:solidFill>
                <a:latin typeface="Klavika Regular"/>
              </a:rPr>
              <a:t>Turn a customer's message into a </a:t>
            </a:r>
            <a:r>
              <a:rPr sz="1700" b="1" dirty="0">
                <a:solidFill>
                  <a:srgbClr val="FFFFFF"/>
                </a:solidFill>
                <a:latin typeface="Klavika Bold"/>
              </a:rPr>
              <a:t>ticket record</a:t>
            </a:r>
            <a:r>
              <a:rPr sz="1700" b="0" dirty="0">
                <a:solidFill>
                  <a:srgbClr val="D8DADE"/>
                </a:solidFill>
                <a:latin typeface="Klavika Regular"/>
              </a:rPr>
              <a:t>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  <a:spcAft>
                <a:spcPts val="600"/>
              </a:spcAft>
            </a:pPr>
            <a:r>
              <a:rPr sz="1500" b="0" dirty="0">
                <a:solidFill>
                  <a:srgbClr val="D8DADE"/>
                </a:solidFill>
                <a:latin typeface="Klavika Regular"/>
              </a:rPr>
              <a:t>Customers write in their own words. The ticket system needs the same seven fields in the same format every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926080"/>
            <a:ext cx="6035040" cy="86868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6" y="2926080"/>
            <a:ext cx="64008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3072384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F26522"/>
                </a:solidFill>
                <a:latin typeface="Klavika Bold"/>
              </a:rPr>
              <a:t>Easy to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33649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D8DADE"/>
                </a:solidFill>
                <a:latin typeface="Klavika Regular"/>
              </a:rPr>
              <a:t>Each field is either right or wrong, so a script can grade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3931920"/>
            <a:ext cx="6035040" cy="86868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5216" y="3931920"/>
            <a:ext cx="64008" cy="86868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4078224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007C97"/>
                </a:solidFill>
                <a:latin typeface="Klavika Bold"/>
              </a:rPr>
              <a:t>Learns the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37083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D8DADE"/>
                </a:solidFill>
                <a:latin typeface="Klavika Regular"/>
              </a:rPr>
              <a:t>The prompt is one line. The fields and rules come from the examples.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4937760"/>
            <a:ext cx="6035040" cy="86868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5216" y="4937760"/>
            <a:ext cx="64008" cy="86868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5084064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ED1C24"/>
                </a:solidFill>
                <a:latin typeface="Klavika Bold"/>
              </a:rPr>
              <a:t>Needs some judgment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537667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D8DADE"/>
                </a:solidFill>
                <a:latin typeface="Klavika Regular"/>
              </a:rPr>
              <a:t>“Not the model I ordered” has to become wrong_item, and dates and prices a standard format.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1280160"/>
            <a:ext cx="3697968" cy="3950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371600"/>
            <a:ext cx="3515088" cy="37673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98079" y="5349240"/>
            <a:ext cx="41056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A test message the model never saw, and its answer after fine-tuning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Getting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417320"/>
            <a:ext cx="4892040" cy="102412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5216" y="1417320"/>
            <a:ext cx="64008" cy="102412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8" y="1709928"/>
            <a:ext cx="420624" cy="420624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Klavika 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6464" y="161848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Open Unsloth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6464" y="1965960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dirty="0">
                <a:solidFill>
                  <a:srgbClr val="00A8CC"/>
                </a:solidFill>
                <a:latin typeface="Consolas"/>
              </a:rPr>
              <a:t>localhost:8890</a:t>
            </a:r>
            <a:r>
              <a:rPr sz="2000" b="1" dirty="0" err="1">
                <a:solidFill>
                  <a:srgbClr val="00A8CC"/>
                </a:solidFill>
                <a:latin typeface="Consolas"/>
              </a:rPr>
              <a:t/>
            </a:r>
            <a:r>
              <a:rPr sz="2000" b="1" dirty="0">
                <a:solidFill>
                  <a:srgbClr val="00A8CC"/>
                </a:solidFill>
                <a:latin typeface="Consolas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2587752"/>
            <a:ext cx="4892040" cy="102412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5216" y="2587752"/>
            <a:ext cx="64008" cy="102412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880360"/>
            <a:ext cx="420624" cy="420624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Klavika 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27889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Sign in: RyzenUnslothStudio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3758184"/>
            <a:ext cx="4892040" cy="102412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5216" y="3758184"/>
            <a:ext cx="64008" cy="102412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1248" y="4050792"/>
            <a:ext cx="420624" cy="420624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Klavika 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39593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Open the notebook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4306824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localhost:8888, in a second tab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1325880"/>
            <a:ext cx="5797296" cy="4015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1417320"/>
            <a:ext cx="5614416" cy="38325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GPU visibility and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43584"/>
            <a:ext cx="1101852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D8DADE"/>
                </a:solidFill>
                <a:latin typeface="Klavika Regular"/>
              </a:rPr>
              <a:t>Before you train, check that the GPU is </a:t>
            </a:r>
            <a:r>
              <a:rPr lang="en-US" sz="1500" b="0" dirty="0">
                <a:solidFill>
                  <a:srgbClr val="D8DADE"/>
                </a:solidFill>
                <a:latin typeface="Klavika Regular"/>
              </a:rPr>
              <a:t>visible</a:t>
            </a:r>
            <a:r>
              <a:rPr sz="1500" b="0" dirty="0">
                <a:solidFill>
                  <a:srgbClr val="D8DADE"/>
                </a:solidFill>
                <a:latin typeface="Klavika Regular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737360"/>
            <a:ext cx="3246120" cy="1188720"/>
          </a:xfrm>
          <a:prstGeom prst="rect">
            <a:avLst/>
          </a:prstGeom>
          <a:solidFill>
            <a:srgbClr val="101010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874519"/>
            <a:ext cx="100584" cy="100584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874519"/>
            <a:ext cx="100584" cy="100584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" y="1874519"/>
            <a:ext cx="100584" cy="100584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62456" y="1865376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6C8CC"/>
                </a:solidFill>
                <a:latin typeface="Consolas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57984"/>
            <a:ext cx="291693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dirty="0">
                <a:solidFill>
                  <a:srgbClr val="00A8CC"/>
                </a:solidFill>
                <a:latin typeface="Consolas"/>
              </a:rPr>
              <a:t>&gt; </a:t>
            </a:r>
            <a:r>
              <a:rPr sz="1400" b="0" dirty="0" err="1">
                <a:solidFill>
                  <a:srgbClr val="00A8CC"/>
                </a:solidFill>
                <a:latin typeface="Consolas"/>
              </a:rPr>
              <a:t>hipInfo</a:t>
            </a:r>
            <a:endParaRPr sz="1400" b="0" dirty="0">
              <a:solidFill>
                <a:srgbClr val="00A8CC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dirty="0">
                <a:solidFill>
                  <a:srgbClr val="00A8CC"/>
                </a:solidFill>
                <a:latin typeface="Consolas"/>
              </a:rPr>
              <a:t/>
            </a:r>
            <a:r>
              <a:rPr sz="1400" b="0" dirty="0" err="1">
                <a:solidFill>
                  <a:srgbClr val="00A8CC"/>
                </a:solidFill>
                <a:latin typeface="Consolas"/>
              </a:rPr>
              <a:t/>
            </a:r>
            <a:endParaRPr sz="1400" b="0" dirty="0">
              <a:solidFill>
                <a:srgbClr val="00A8CC"/>
              </a:solidFill>
              <a:latin typeface="Consola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5216" y="3127248"/>
            <a:ext cx="3246120" cy="804672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216" y="3127248"/>
            <a:ext cx="64008" cy="80467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3255264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26522"/>
                </a:solidFill>
                <a:latin typeface="Consolas"/>
              </a:rPr>
              <a:t>hipInfo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529584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dirty="0">
                <a:solidFill>
                  <a:srgbClr val="D8DADE"/>
                </a:solidFill>
                <a:latin typeface="Klavika Regular"/>
              </a:rPr>
              <a:t>The GPU's name, architecture and memory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" y="4059935"/>
            <a:ext cx="3246120" cy="804672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5216" y="4059935"/>
            <a:ext cx="64008" cy="804672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4187951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007C97"/>
                </a:solidFill>
                <a:latin typeface="Consolas"/>
              </a:rPr>
              <a:t>Task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462272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D8DADE"/>
                </a:solidFill>
                <a:latin typeface="Klavika Regular"/>
              </a:rPr>
              <a:t>Performance, then GPU, then the Compute graph for live 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5047488"/>
            <a:ext cx="3246120" cy="73152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5216" y="5047488"/>
            <a:ext cx="64008" cy="73152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5175504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8DADE"/>
                </a:solidFill>
                <a:latin typeface="Klavika Regular"/>
              </a:rPr>
              <a:t>Compute graph flat during a run? Training has stopped.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1508760"/>
            <a:ext cx="7626096" cy="26432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1600200"/>
            <a:ext cx="7443216" cy="2460347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069080" y="4187952"/>
            <a:ext cx="278628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0520" y="4279392"/>
            <a:ext cx="2603402" cy="16459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86600" y="4370832"/>
            <a:ext cx="451713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On Windows, Studio's GPU Monitor shows memory in use (here 11.8 of 116.7 GiB on a Ryzen AI Max+) but not load. Open the terminal in JupyterLab: File, New, Terminal.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Driving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43584"/>
            <a:ext cx="11018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8DADE"/>
                </a:solidFill>
                <a:latin typeface="Klavika Regular"/>
              </a:rPr>
              <a:t>Everything happens on the Train page. Loading the model the first time takes longest.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737360"/>
            <a:ext cx="4754880" cy="91440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6" y="1737360"/>
            <a:ext cx="64008" cy="91440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1865376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Pick the model and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157984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0A8CC"/>
                </a:solidFill>
                <a:latin typeface="Consolas"/>
              </a:rPr>
              <a:t>unsloth/Qwen3.5-2B</a:t>
            </a:r>
            <a:r>
              <a:rPr sz="1200" b="0">
                <a:solidFill>
                  <a:srgbClr val="D8DADE"/>
                </a:solidFill>
                <a:latin typeface="Klavika Regular"/>
              </a:rPr>
              <a:t>, method </a:t>
            </a:r>
            <a:r>
              <a:rPr sz="1200" b="0">
                <a:solidFill>
                  <a:srgbClr val="00A8CC"/>
                </a:solidFill>
                <a:latin typeface="Consolas"/>
              </a:rPr>
              <a:t>LoRA</a:t>
            </a:r>
            <a:r>
              <a:rPr sz="1200" b="0">
                <a:solidFill>
                  <a:srgbClr val="D8DADE"/>
                </a:solidFill>
                <a:latin typeface="Klavika Regular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2779776"/>
            <a:ext cx="4754880" cy="91440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5216" y="2779776"/>
            <a:ext cx="64008" cy="91440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90779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Upload the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00400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8DADE"/>
                </a:solidFill>
                <a:latin typeface="Klavika Regular"/>
              </a:rPr>
              <a:t>support_tickets_train.jsonl. Check that View dataset shows ChatML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3822191"/>
            <a:ext cx="4754880" cy="91440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5216" y="3822191"/>
            <a:ext cx="64008" cy="91440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3950207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Set 30 steps and start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242816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8DADE"/>
                </a:solidFill>
                <a:latin typeface="Klavika Regular"/>
              </a:rPr>
              <a:t>Watch the loss chart, and the GPU in Task Manager</a:t>
            </a:r>
            <a:r>
              <a:rPr sz="1200" b="0">
                <a:solidFill>
                  <a:srgbClr val="00A8CC"/>
                </a:solidFill>
                <a:latin typeface="Consolas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4864608"/>
            <a:ext cx="4754880" cy="91440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216" y="4864608"/>
            <a:ext cx="64008" cy="91440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499262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Compare in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285232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8DADE"/>
                </a:solidFill>
                <a:latin typeface="Klavika Regular"/>
              </a:rPr>
              <a:t>Turn Thinking off, paste a test message, and read both answers side by side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600200"/>
            <a:ext cx="6025896" cy="43941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691640"/>
            <a:ext cx="5843016" cy="42112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Fine-tuning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43584"/>
            <a:ext cx="11018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8DADE"/>
                </a:solidFill>
                <a:latin typeface="Klavika Regular"/>
              </a:rPr>
              <a:t>After 30 training steps, the model answers in the ticket format.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719072"/>
            <a:ext cx="1417320" cy="310896"/>
          </a:xfrm>
          <a:prstGeom prst="round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>
                <a:solidFill>
                  <a:srgbClr val="FFFFFF"/>
                </a:solidFill>
                <a:latin typeface="Klavika Bold"/>
              </a:rPr>
              <a:t>DEMO: 30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2121408"/>
            <a:ext cx="6172200" cy="32080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2212848"/>
            <a:ext cx="5989320" cy="30252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" y="5504688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Loss and gradient norm for each step, from Studio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2121408"/>
            <a:ext cx="4882896" cy="16443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2212848"/>
            <a:ext cx="4700016" cy="14615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03720" y="3840480"/>
            <a:ext cx="4700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The fine-tuned model's answer to a test message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4315968"/>
            <a:ext cx="4791456" cy="146304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12280" y="4315968"/>
            <a:ext cx="64008" cy="146304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86600" y="4498848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What to look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4818888"/>
            <a:ext cx="429768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>
                <a:solidFill>
                  <a:srgbClr val="00A8CC"/>
                </a:solidFill>
                <a:latin typeface="Klavika Regular"/>
              </a:rPr>
              <a:t>•  </a:t>
            </a:r>
            <a:r>
              <a:rPr sz="1200">
                <a:solidFill>
                  <a:srgbClr val="D8DADE"/>
                </a:solidFill>
                <a:latin typeface="Klavika Regular"/>
              </a:rPr>
              <a:t>Loss falls over the first 15 steps, then levels off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>
                <a:solidFill>
                  <a:srgbClr val="00A8CC"/>
                </a:solidFill>
                <a:latin typeface="Klavika Regular"/>
              </a:rPr>
              <a:t>•  </a:t>
            </a:r>
            <a:r>
              <a:rPr sz="1200">
                <a:solidFill>
                  <a:srgbClr val="D8DADE"/>
                </a:solidFill>
                <a:latin typeface="Klavika Regular"/>
              </a:rPr>
              <a:t>On a Ryzen AI Max+, 29 of 30 test tickets came out exactly right, against 19 of 30 with a detailed prompt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1060704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6C8CC"/>
                </a:solidFill>
                <a:latin typeface="Klavika Bold"/>
              </a:rPr>
              <a:t>SYMPTOM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65776" y="1060704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6C8CC"/>
                </a:solidFill>
                <a:latin typeface="Klavika Bold"/>
              </a:rPr>
              <a:t>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53312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5216" y="1353312"/>
            <a:ext cx="64008" cy="65836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554480"/>
            <a:ext cx="39776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First chat response times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65776" y="1554480"/>
            <a:ext cx="6263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Cold model load. Retry, the warm model answers fast.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2157984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5216" y="2157984"/>
            <a:ext cx="64008" cy="65836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359152"/>
            <a:ext cx="39776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Dataset not read as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65776" y="2359152"/>
            <a:ext cx="6263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Upload the .jsonl from data/ unchanged. View dataset should show ChatML.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2962656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5216" y="2962656"/>
            <a:ext cx="64008" cy="65836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3163824"/>
            <a:ext cx="39776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Out of memory during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3163824"/>
            <a:ext cx="6263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Smaller model, enable QLoRA 4-bit, lower batch size or sequence length.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" y="3767328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5216" y="3767328"/>
            <a:ext cx="64008" cy="65836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3968496"/>
            <a:ext cx="39776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Answers run on past the 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3968496"/>
            <a:ext cx="6263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Turn Thinking off in Chat. If it still happens, train for more steps.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" y="4572000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5216" y="4572000"/>
            <a:ext cx="64008" cy="65836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4773168"/>
            <a:ext cx="39776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Training fails at step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5776" y="4773168"/>
            <a:ext cx="6263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Check the error on the Current Run page. A mismatched Triton install is a common cause.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" y="5376672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5216" y="5376672"/>
            <a:ext cx="64008" cy="65836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5577840"/>
            <a:ext cx="39776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What to try next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5577840"/>
            <a:ext cx="6263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Your own data in the same format, or a larger model such as Qwen3.5-9B.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Learn more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417320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5216" y="1417320"/>
            <a:ext cx="64008" cy="694944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163677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Unsloth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31335" y="1636776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github.com/unslothai/unsloth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0456" y="16459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The framework itself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2258568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5216" y="2258568"/>
            <a:ext cx="64008" cy="694944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47802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Unsloth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31335" y="2478024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docs.unsloth.ai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6" y="24871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Guides, notebooks, supported models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3099816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5216" y="3099816"/>
            <a:ext cx="64008" cy="69494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331927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LoRA paper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1335" y="3319272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arxiv.org/abs/2106.09685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332841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Low-Rank Adaptation, Hu et 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3941064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5216" y="3941064"/>
            <a:ext cx="64008" cy="694944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416052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QLoRA paper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1335" y="4160520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arxiv.org/abs/2305.14314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416966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4-bit finetuning, Dettmers et 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" y="4782312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5216" y="4782312"/>
            <a:ext cx="64008" cy="694944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" y="500176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Qwen3.5-2B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31335" y="500176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huggingface.co/unsloth/Qwen3.5-2B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0456" y="501091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The model used today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" y="5623560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5216" y="5623560"/>
            <a:ext cx="64008" cy="69494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9536" y="584301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This workshop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31335" y="5843016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localhost:8890 and :8888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6" y="58521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Studio password: RyzenUnslothStudio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How SFT learns: one training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80160"/>
            <a:ext cx="11018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D8DADE"/>
                </a:solidFill>
                <a:latin typeface="Klavika Regular"/>
              </a:rPr>
              <a:t>Each step shows the model a few examples and nudges it toward </a:t>
            </a:r>
            <a:r>
              <a:rPr sz="1700" b="1">
                <a:solidFill>
                  <a:srgbClr val="F26522"/>
                </a:solidFill>
                <a:latin typeface="Klavika Bold"/>
              </a:rPr>
              <a:t>your</a:t>
            </a:r>
            <a:r>
              <a:rPr sz="1700" b="0">
                <a:solidFill>
                  <a:srgbClr val="D8DADE"/>
                </a:solidFill>
                <a:latin typeface="Klavika Regular"/>
              </a:rPr>
              <a:t> answers, </a:t>
            </a:r>
            <a:r>
              <a:rPr sz="1700" b="1">
                <a:solidFill>
                  <a:srgbClr val="F26522"/>
                </a:solidFill>
                <a:latin typeface="Klavika Bold"/>
              </a:rPr>
              <a:t>token by token</a:t>
            </a:r>
            <a:r>
              <a:rPr sz="1700" b="0">
                <a:solidFill>
                  <a:srgbClr val="D8DADE"/>
                </a:solidFill>
                <a:latin typeface="Klavika Regular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148840"/>
            <a:ext cx="2548890" cy="1847088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6" y="2148840"/>
            <a:ext cx="254889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2441448"/>
            <a:ext cx="384048" cy="38404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Klavika 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207340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Tokenize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82696"/>
            <a:ext cx="207340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D8DADE"/>
                </a:solidFill>
                <a:latin typeface="Klavika Regular"/>
              </a:rPr>
              <a:t>The chat template turns the message and its ticket into one sequence of tokens.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8426" y="2148840"/>
            <a:ext cx="2548890" cy="1847088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08426" y="2148840"/>
            <a:ext cx="254889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46170" y="2441448"/>
            <a:ext cx="384048" cy="384048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Klavika 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6170" y="2971800"/>
            <a:ext cx="207340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Predict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6170" y="3282696"/>
            <a:ext cx="207340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D8DADE"/>
                </a:solidFill>
                <a:latin typeface="Klavika Regular"/>
              </a:rPr>
              <a:t>At every position the model guesses the next token, just as when it chats.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2148840"/>
            <a:ext cx="2548890" cy="1847088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31636" y="2148840"/>
            <a:ext cx="2548890" cy="6400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69379" y="2441448"/>
            <a:ext cx="384048" cy="384048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Klavika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9379" y="2971800"/>
            <a:ext cx="207340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79" y="3282696"/>
            <a:ext cx="2073402" cy="435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D8DADE"/>
                </a:solidFill>
                <a:latin typeface="Klavika Regular"/>
              </a:rPr>
              <a:t>Cross-entropy loss: how unlikely it found the real next token. Lower is better.</a:t>
            </a:r>
            <a:r>
              <a:rPr lang="en-US" sz="1250" b="0" dirty="0">
                <a:solidFill>
                  <a:srgbClr val="D8DADE"/>
                </a:solidFill>
                <a:latin typeface="Klavika Regular"/>
              </a:rPr>
              <a:t/>
            </a:r>
            <a:endParaRPr sz="1250" b="0" dirty="0">
              <a:solidFill>
                <a:srgbClr val="D8DADE"/>
              </a:solidFill>
              <a:latin typeface="Klavika Regula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054846" y="2148840"/>
            <a:ext cx="2548890" cy="1847088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54846" y="2148840"/>
            <a:ext cx="254889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292590" y="2441448"/>
            <a:ext cx="384048" cy="38404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Klavika 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2590" y="2971800"/>
            <a:ext cx="207340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Update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2590" y="3282696"/>
            <a:ext cx="207340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Backpropagation adjusts only the LoRA adapter, making the right tokens likelier.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" y="4315968"/>
            <a:ext cx="11018520" cy="84124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5216" y="4315968"/>
            <a:ext cx="64008" cy="84124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" y="4462272"/>
            <a:ext cx="10378440" cy="5439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dirty="0">
                <a:solidFill>
                  <a:srgbClr val="FFFFFF"/>
                </a:solidFill>
                <a:latin typeface="Klavika Bold"/>
              </a:rPr>
              <a:t>One step is 8 examples. </a:t>
            </a:r>
            <a:r>
              <a:rPr sz="1450" b="0" dirty="0">
                <a:solidFill>
                  <a:srgbClr val="D8DADE"/>
                </a:solidFill>
                <a:latin typeface="Klavika Regular"/>
              </a:rPr>
              <a:t>30 steps show the model 240 tickets, about a quarter of the data. </a:t>
            </a:r>
            <a:r>
              <a:rPr sz="1450" b="1" dirty="0">
                <a:solidFill>
                  <a:srgbClr val="00A8CC"/>
                </a:solidFill>
                <a:latin typeface="Klavika Bold"/>
              </a:rPr>
              <a:t>The test tickets are never trained on, which is why the notebook scores on them.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Reading a training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80160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dirty="0">
                <a:solidFill>
                  <a:srgbClr val="D8DADE"/>
                </a:solidFill>
                <a:latin typeface="Klavika Regular"/>
              </a:rPr>
              <a:t>The settings Studio used today, and what the loss chart tells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20240"/>
            <a:ext cx="5349240" cy="23317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6" y="1920240"/>
            <a:ext cx="53492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8" y="2212848"/>
            <a:ext cx="1051560" cy="274320"/>
          </a:xfrm>
          <a:prstGeom prst="round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Knobs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2536" y="224942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6C8CC"/>
                </a:solidFill>
                <a:latin typeface="Klavika Medium"/>
              </a:rPr>
              <a:t>Studio's defaults for this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697480"/>
            <a:ext cx="4837176" cy="828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Learning rate 2e-4: the size of each update. It warms up for 5 steps, then decays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Batch of 8: 2 examples at a time, 4 accumulated per update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LoRA rank 16: how much the adapter can learn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4496" y="1920240"/>
            <a:ext cx="5349240" cy="23317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54496" y="1920240"/>
            <a:ext cx="534924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10528" y="2212848"/>
            <a:ext cx="1051560" cy="274320"/>
          </a:xfrm>
          <a:prstGeom prst="round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1816" y="224942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6C8CC"/>
                </a:solidFill>
                <a:latin typeface="Klavika Medium"/>
              </a:rPr>
              <a:t>How wrong the next-token guesses 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697480"/>
            <a:ext cx="4837176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Falls fast: the model is picking up the format</a:t>
            </a:r>
            <a:r>
              <a:rPr sz="1350" dirty="0" err="1">
                <a:solidFill>
                  <a:srgbClr val="D8DADE"/>
                </a:solidFill>
                <a:latin typeface="Klavika Regular"/>
              </a:rPr>
              <a:t/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/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Flat near zero: little left to learn from this data</a:t>
            </a:r>
            <a:r>
              <a:rPr sz="1350" dirty="0" err="1">
                <a:solidFill>
                  <a:srgbClr val="D8DADE"/>
                </a:solidFill>
                <a:latin typeface="Klavika Regular"/>
              </a:rPr>
              <a:t/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/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Only held-out tests show whether it generalizes or memorized</a:t>
            </a:r>
            <a:r>
              <a:rPr sz="1350" dirty="0" err="1">
                <a:solidFill>
                  <a:srgbClr val="D8DADE"/>
                </a:solidFill>
                <a:latin typeface="Klavika Regular"/>
              </a:rPr>
              <a:t/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" y="4572000"/>
            <a:ext cx="3489960" cy="118872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5216" y="4572000"/>
            <a:ext cx="64008" cy="118872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4773168"/>
            <a:ext cx="29413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F26522"/>
                </a:solidFill>
                <a:latin typeface="Klavika Bold"/>
              </a:rPr>
              <a:t>240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321808"/>
            <a:ext cx="2941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examples seen in 30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9496" y="4572000"/>
            <a:ext cx="3489960" cy="118872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49496" y="4572000"/>
            <a:ext cx="64008" cy="118872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23816" y="4773168"/>
            <a:ext cx="29413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007C97"/>
                </a:solidFill>
                <a:latin typeface="Klavika Bold"/>
              </a:rPr>
              <a:t>~1%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3816" y="5321808"/>
            <a:ext cx="2941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of the weights trained (23M)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3776" y="4572000"/>
            <a:ext cx="3489960" cy="118872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13776" y="4572000"/>
            <a:ext cx="64008" cy="118872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88096" y="4773168"/>
            <a:ext cx="29413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ED1C24"/>
                </a:solidFill>
                <a:latin typeface="Klavika Bold"/>
              </a:rPr>
              <a:t>~4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8096" y="5321808"/>
            <a:ext cx="2941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D8DADE"/>
                </a:solidFill>
                <a:latin typeface="Klavika Regular"/>
              </a:rPr>
              <a:t>for 30 steps on a Ryzen AI Max+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Finished early? Stretch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1060704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6C8CC"/>
                </a:solidFill>
                <a:latin typeface="Klavika Bold"/>
              </a:rPr>
              <a:t>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65776" y="1060704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6C8CC"/>
                </a:solidFill>
                <a:latin typeface="Klavika Bold"/>
              </a:rPr>
              <a:t>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53312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5216" y="1353312"/>
            <a:ext cx="64008" cy="65836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554480"/>
            <a:ext cx="39776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Add a 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65776" y="1554480"/>
            <a:ext cx="6263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Add priority (urgent when the message says ASAP) to the data generator and the scorer's FIELDS, then retrain.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2157984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5216" y="2157984"/>
            <a:ext cx="64008" cy="65836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359152"/>
            <a:ext cx="39776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Teach it your own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65776" y="2359152"/>
            <a:ext cx="6263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Write 5 examples by hand, let a bigger model write 50 more, train 30 steps. Ideas on the next slide.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2962656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5216" y="2962656"/>
            <a:ext cx="64008" cy="65836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3163824"/>
            <a:ext cx="39776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Take it with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3163824"/>
            <a:ext cx="6263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Export as GGUF (Q4_K_M) and run it in llama.cpp, LM Studio, Ollama or Lemonade. Compare answers and speed.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Teach it your own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80160"/>
            <a:ext cx="11018520" cy="2716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dirty="0">
                <a:solidFill>
                  <a:srgbClr val="D8DADE"/>
                </a:solidFill>
                <a:latin typeface="Klavika Regular"/>
              </a:rPr>
              <a:t>Any task with one right answer per input works the same way as today's tickets.</a:t>
            </a:r>
            <a:r>
              <a:rPr lang="en-US" sz="1600" b="0" dirty="0">
                <a:solidFill>
                  <a:srgbClr val="D8DADE"/>
                </a:solidFill>
                <a:latin typeface="Klavika Regular"/>
              </a:rPr>
              <a:t/>
            </a:r>
            <a:r>
              <a:rPr lang="en-US" dirty="0"/>
              <a:t/>
            </a:r>
            <a:r>
              <a:rPr sz="1600" b="0" dirty="0">
                <a:solidFill>
                  <a:srgbClr val="D8DADE"/>
                </a:solidFill>
                <a:latin typeface="Klavika Regular"/>
              </a:rPr>
              <a:t/>
            </a:r>
            <a:r>
              <a:rPr lang="en-US" sz="1600" b="0" dirty="0">
                <a:solidFill>
                  <a:srgbClr val="D8DADE"/>
                </a:solidFill>
                <a:latin typeface="Klavika Regular"/>
              </a:rPr>
              <a:t/>
            </a:r>
            <a:r>
              <a:rPr sz="1600" b="0" dirty="0">
                <a:solidFill>
                  <a:srgbClr val="D8DADE"/>
                </a:solidFill>
                <a:latin typeface="Klavika Regular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874519"/>
            <a:ext cx="5349240" cy="3246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6" y="1874519"/>
            <a:ext cx="53492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9536" y="2185415"/>
            <a:ext cx="777240" cy="274320"/>
          </a:xfrm>
          <a:prstGeom prst="round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IDEAS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2221991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Pick something small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79191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One right answer per input, so you can check it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A short, fixed output, like today's seven fields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3630168"/>
            <a:ext cx="4800600" cy="1234440"/>
          </a:xfrm>
          <a:prstGeom prst="rect">
            <a:avLst/>
          </a:prstGeom>
          <a:solidFill>
            <a:srgbClr val="101010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7" y="3794759"/>
            <a:ext cx="4471416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dirty="0">
                <a:solidFill>
                  <a:srgbClr val="C6C8CC"/>
                </a:solidFill>
                <a:latin typeface="Consolas"/>
              </a:rPr>
              <a:t>meeting notes  -&gt; {owner, task, due}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dirty="0">
                <a:solidFill>
                  <a:srgbClr val="C6C8CC"/>
                </a:solidFill>
                <a:latin typeface="Consolas"/>
              </a:rPr>
              <a:t>receipt text   -&gt; {merchant, date, total}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dirty="0">
                <a:solidFill>
                  <a:srgbClr val="C6C8CC"/>
                </a:solidFill>
                <a:latin typeface="Consolas"/>
              </a:rPr>
              <a:t>bug report     -&gt; {component, severity}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dirty="0">
                <a:solidFill>
                  <a:srgbClr val="C6C8CC"/>
                </a:solidFill>
                <a:latin typeface="Consolas"/>
              </a:rPr>
              <a:t>job ad         -&gt; {title, remote, salary}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dirty="0">
                <a:solidFill>
                  <a:srgbClr val="C6C8CC"/>
                </a:solidFill>
                <a:latin typeface="Consolas"/>
              </a:rPr>
              <a:t>casual email   -&gt; a polite, formal reply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1874519"/>
            <a:ext cx="5349240" cy="3246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54496" y="1874519"/>
            <a:ext cx="534924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28816" y="2185415"/>
            <a:ext cx="960120" cy="274320"/>
          </a:xfrm>
          <a:prstGeom prst="round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2221991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Write a few, generate the 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679191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Your hand-written examples set the format and the bar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A bigger model adds variety: Qwen3.6-35B in Lemonade</a:t>
            </a:r>
          </a:p>
        </p:txBody>
      </p:sp>
      <p:sp>
        <p:nvSpPr>
          <p:cNvPr id="16" name="Oval 15"/>
          <p:cNvSpPr/>
          <p:nvPr/>
        </p:nvSpPr>
        <p:spPr>
          <a:xfrm>
            <a:off x="6565392" y="3703320"/>
            <a:ext cx="274320" cy="274320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3721607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FFFFFF"/>
                </a:solidFill>
                <a:latin typeface="Klavika Bold"/>
              </a:rPr>
              <a:t>Write  </a:t>
            </a:r>
            <a:r>
              <a:rPr sz="1250" b="0" dirty="0">
                <a:solidFill>
                  <a:srgbClr val="D8DADE"/>
                </a:solidFill>
                <a:latin typeface="Klavika Regular"/>
              </a:rPr>
              <a:t>5 examples by hand, covering the cases you care about</a:t>
            </a:r>
          </a:p>
        </p:txBody>
      </p:sp>
      <p:sp>
        <p:nvSpPr>
          <p:cNvPr id="18" name="Oval 17"/>
          <p:cNvSpPr/>
          <p:nvPr/>
        </p:nvSpPr>
        <p:spPr>
          <a:xfrm>
            <a:off x="6565392" y="4087368"/>
            <a:ext cx="274320" cy="274320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4105655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Klavika Bold"/>
              </a:rPr>
              <a:t>Generate  </a:t>
            </a:r>
            <a:r>
              <a:rPr sz="1250" b="0">
                <a:solidFill>
                  <a:srgbClr val="D8DADE"/>
                </a:solidFill>
                <a:latin typeface="Klavika Regular"/>
              </a:rPr>
              <a:t>50 more: paste yours and ask for more like them</a:t>
            </a:r>
          </a:p>
        </p:txBody>
      </p:sp>
      <p:sp>
        <p:nvSpPr>
          <p:cNvPr id="20" name="Oval 19"/>
          <p:cNvSpPr/>
          <p:nvPr/>
        </p:nvSpPr>
        <p:spPr>
          <a:xfrm>
            <a:off x="6565392" y="4471416"/>
            <a:ext cx="274320" cy="274320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4489703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Klavika Bold"/>
              </a:rPr>
              <a:t>Check  </a:t>
            </a:r>
            <a:r>
              <a:rPr sz="1250" b="0">
                <a:solidFill>
                  <a:srgbClr val="D8DADE"/>
                </a:solidFill>
                <a:latin typeface="Klavika Regular"/>
              </a:rPr>
              <a:t>each one, keep 10 back for testing, train 30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MD Corporate Template_Dark">
  <a:themeElements>
    <a:clrScheme name="AMD Corpora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EAEAEA"/>
      </a:accent3>
      <a:accent4>
        <a:srgbClr val="F26522"/>
      </a:accent4>
      <a:accent5>
        <a:srgbClr val="ED1C24"/>
      </a:accent5>
      <a:accent6>
        <a:srgbClr val="007C97"/>
      </a:accent6>
      <a:hlink>
        <a:srgbClr val="D5D5D5"/>
      </a:hlink>
      <a:folHlink>
        <a:srgbClr val="A9A9A9"/>
      </a:folHlink>
    </a:clrScheme>
    <a:fontScheme name="Arial">
      <a:majorFont>
        <a:latin typeface="Klavika Bold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Klavika Regular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16x9 Presentation - Corporate Black Background.pptx" id="{EB850784-AF90-4435-997D-B71DAC8406C3}" vid="{37C37173-7515-49DE-99BC-ABA7A3D2FA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Klavika 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Klavika Regula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Klavika 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Klavika Regula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1.xml"/></Relationships>
</file>

<file path=customXml/item1.xml><?xml version="1.0" encoding="utf-8"?>
<TemplafySlideTemplateConfiguration><![CDATA[{"slideVersion":1,"isValidatorEnabled":false,"isLocked":false,"elementsMetadata":[],"slideId":"637629098780820470","enableDocumentContentUpdater":true,"version":"2.0"}]]></TemplafySlideTemplate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e4aa919a-b200-49cb-beca-4c7e0810321e" xsi:nil="true"/>
  </documentManagement>
</p:properties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1,"isValidatorEnabled":false,"isLocked":false,"elementsMetadata":[],"slideId":"637629098780931945","enableDocumentContentUpdater":true,"version":"2.0"}]]></TemplafySlideTemplateConfiguration>
</file>

<file path=customXml/item9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8A2EBC6E34694C80F43E94FCA993B5" ma:contentTypeVersion="14" ma:contentTypeDescription="Create a new document." ma:contentTypeScope="" ma:versionID="1a7ced39ac191f9ec8deffde533b0c1c">
  <xsd:schema xmlns:xsd="http://www.w3.org/2001/XMLSchema" xmlns:xs="http://www.w3.org/2001/XMLSchema" xmlns:p="http://schemas.microsoft.com/office/2006/metadata/properties" xmlns:ns1="http://schemas.microsoft.com/sharepoint/v3" xmlns:ns2="e4aa919a-b200-49cb-beca-4c7e0810321e" xmlns:ns3="06670dda-0291-4061-b6e0-f6c0cb392c51" targetNamespace="http://schemas.microsoft.com/office/2006/metadata/properties" ma:root="true" ma:fieldsID="bedea8c8816a4e5934c808becd103583" ns1:_="" ns2:_="" ns3:_="">
    <xsd:import namespace="http://schemas.microsoft.com/sharepoint/v3"/>
    <xsd:import namespace="e4aa919a-b200-49cb-beca-4c7e0810321e"/>
    <xsd:import namespace="06670dda-0291-4061-b6e0-f6c0cb392c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aa919a-b200-49cb-beca-4c7e08103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70dda-0291-4061-b6e0-f6c0cb392c5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0.xml><?xml version="1.0" encoding="utf-8"?>
<TemplafySlideTemplateConfiguration><![CDATA[{"slideVersion":1,"isValidatorEnabled":false,"isLocked":false,"elementsMetadata":[],"slideId":"637629098780818133","enableDocumentContentUpdater":true,"version":"2.0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slideVersion":1,"isValidatorEnabled":false,"isLocked":false,"elementsMetadata":[],"slideId":"637629098780864969","enableDocumentContentUpdater":true,"version":"2.0"}]]></TemplafySlideTemplate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SlideTemplateConfiguration><![CDATA[{"slideVersion":1,"isValidatorEnabled":false,"isLocked":false,"elementsMetadata":[],"slideId":"637629098780940360","enableDocumentContentUpdater":true,"version":"2.0"}]]></TemplafySlideTemplateConfiguration>
</file>

<file path=customXml/item15.xml><?xml version="1.0" encoding="utf-8"?>
<TemplafySlideTemplateConfiguration><![CDATA[{"slideVersion":1,"isValidatorEnabled":false,"isLocked":false,"elementsMetadata":[],"slideId":"637629098780944294","enableDocumentContentUpdater":true,"version":"2.0"}]]></TemplafySlideTemplate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TemplateConfiguration><![CDATA[{"slideVersion":1,"isValidatorEnabled":false,"isLocked":false,"elementsMetadata":[],"slideId":"637629098780863185","enableDocumentContentUpdater":true,"version":"2.0"}]]></TemplafySlideTemplateConfiguration>
</file>

<file path=customXml/item18.xml><?xml version="1.0" encoding="utf-8"?>
<TemplafySlideFormConfiguration><![CDATA[{"formFields":[],"formDataEntries":[]}]]></TemplafySlideFormConfiguration>
</file>

<file path=customXml/item19.xml><?xml version="1.0" encoding="utf-8"?>
<TemplafySlideTemplateConfiguration><![CDATA[{"slideVersion":1,"isValidatorEnabled":false,"isLocked":false,"elementsMetadata":[],"slideId":"637629098780938070","enableDocumentContentUpdater":true,"version":"2.0"}]]></TemplafySlideTemplateConfiguration>
</file>

<file path=customXml/item20.xml><?xml version="1.0" encoding="utf-8"?>
<TemplafySlideTemplateConfiguration><![CDATA[{"slideVersion":1,"isValidatorEnabled":false,"isLocked":false,"elementsMetadata":[],"slideId":"637629098780812520","enableDocumentContentUpdater":true,"version":"2.0"}]]></TemplafySlideTemplateConfiguration>
</file>

<file path=customXml/item21.xml><?xml version="1.0" encoding="utf-8"?>
<TemplafySlideFormConfiguration><![CDATA[{"formFields":[],"formDataEntries":[]}]]></TemplafySlideFormConfiguration>
</file>

<file path=customXml/item22.xml><?xml version="1.0" encoding="utf-8"?>
<TemplafySlideFormConfiguration><![CDATA[{"formFields":[],"formDataEntries":[]}]]></TemplafySlideFormConfiguration>
</file>

<file path=customXml/item23.xml><?xml version="1.0" encoding="utf-8"?>
<TemplafyTemplateConfiguration><![CDATA[{"elementsMetadata":[],"transformationConfigurations":[{"colorTheme":"{{DataSources.ColorThemes[\"Corporate\"].ColorTheme}}","disableUpdates":false,"type":"colorTheme"}],"enableDocumentContentUpdater":true,"version":"2.0"}]]></TemplafyTemplateConfiguration>
</file>

<file path=customXml/item24.xml><?xml version="1.0" encoding="utf-8"?>
<TemplafySlideTemplateConfiguration><![CDATA[{"slideVersion":1,"isValidatorEnabled":false,"isLocked":false,"elementsMetadata":[],"slideId":"637629098780855834","enableDocumentContentUpdater":true,"version":"2.0"}]]></TemplafySlideTemplateConfiguration>
</file>

<file path=customXml/item25.xml><?xml version="1.0" encoding="utf-8"?>
<TemplafySlideTemplateConfiguration><![CDATA[{"slideVersion":1,"isValidatorEnabled":false,"isLocked":false,"elementsMetadata":[],"slideId":"637629098780868991","enableDocumentContentUpdater":true,"version":"2.0"}]]></TemplafySlideTemplateConfiguration>
</file>

<file path=customXml/item26.xml><?xml version="1.0" encoding="utf-8"?>
<TemplafySlideTemplateConfiguration><![CDATA[{"slideVersion":1,"isValidatorEnabled":false,"isLocked":false,"elementsMetadata":[],"slideId":"637629098780898812","enableDocumentContentUpdater":true,"version":"2.0"}]]></TemplafySlideTemplateConfiguration>
</file>

<file path=customXml/item27.xml><?xml version="1.0" encoding="utf-8"?>
<TemplafySlideTemplateConfiguration><![CDATA[{"slideVersion":1,"isValidatorEnabled":false,"isLocked":false,"elementsMetadata":[],"slideId":"637629098780805369","enableDocumentContentUpdater":true,"version":"2.0"}]]></TemplafySlideTemplateConfiguration>
</file>

<file path=customXml/item28.xml><?xml version="1.0" encoding="utf-8"?>
<TemplafySlideFormConfiguration><![CDATA[{"formFields":[],"formDataEntries":[]}]]></TemplafySlideFormConfiguration>
</file>

<file path=customXml/item29.xml><?xml version="1.0" encoding="utf-8"?>
<TemplafySlideFormConfiguration><![CDATA[{"formFields":[],"formDataEntries":[]}]]></TemplafySlideFormConfiguration>
</file>

<file path=customXml/item30.xml><?xml version="1.0" encoding="utf-8"?>
<TemplafySlideFormConfiguration><![CDATA[{"formFields":[],"formDataEntries":[]}]]></TemplafySlideFormConfiguration>
</file>

<file path=customXml/item31.xml><?xml version="1.0" encoding="utf-8"?>
<TemplafySlideFormConfiguration><![CDATA[{"formFields":[],"formDataEntries":[]}]]></TemplafySlideFormConfiguration>
</file>

<file path=customXml/item32.xml><?xml version="1.0" encoding="utf-8"?>
<TemplafySlideTemplateConfiguration><![CDATA[{"slideVersion":1,"isValidatorEnabled":false,"isLocked":false,"elementsMetadata":[],"slideId":"637629098780935963","enableDocumentContentUpdater":true,"version":"2.0"}]]></TemplafySlideTemplateConfiguration>
</file>

<file path=customXml/item33.xml><?xml version="1.0" encoding="utf-8"?>
<TemplafySlideTemplateConfiguration><![CDATA[{"slideVersion":1,"isValidatorEnabled":false,"isLocked":false,"elementsMetadata":[],"slideId":"637629098780929168","enableDocumentContentUpdater":true,"version":"2.0"}]]></TemplafySlideTemplateConfiguration>
</file>

<file path=customXml/item34.xml><?xml version="1.0" encoding="utf-8"?>
<TemplafySlideTemplateConfiguration><![CDATA[{"slideVersion":1,"isValidatorEnabled":false,"isLocked":false,"elementsMetadata":[],"slideId":"637629098780942318","enableDocumentContentUpdater":true,"version":"2.0"}]]></TemplafySlideTemplateConfiguration>
</file>

<file path=customXml/item35.xml><?xml version="1.0" encoding="utf-8"?>
<TemplafySlideFormConfiguration><![CDATA[{"formFields":[],"formDataEntries":[]}]]></TemplafySlideFormConfiguration>
</file>

<file path=customXml/item36.xml><?xml version="1.0" encoding="utf-8"?>
<TemplafySlideTemplateConfiguration><![CDATA[{"slideVersion":1,"isValidatorEnabled":false,"isLocked":false,"elementsMetadata":[],"slideId":"637629098780891892","enableDocumentContentUpdater":true,"version":"2.0"}]]></TemplafySlideTemplateConfiguration>
</file>

<file path=customXml/item37.xml><?xml version="1.0" encoding="utf-8"?>
<TemplafySlideFormConfiguration><![CDATA[{"formFields":[],"formDataEntries":[]}]]></TemplafySlideFormConfiguration>
</file>

<file path=customXml/item38.xml><?xml version="1.0" encoding="utf-8"?>
<TemplafySlideTemplateConfiguration><![CDATA[{"slideVersion":1,"isValidatorEnabled":false,"isLocked":false,"elementsMetadata":[],"slideId":"637629098780858672","enableDocumentContentUpdater":true,"version":"2.0"}]]></TemplafySlideTemplateConfiguration>
</file>

<file path=customXml/item39.xml><?xml version="1.0" encoding="utf-8"?>
<TemplafySlideTemplateConfiguration><![CDATA[{"slideVersion":1,"isValidatorEnabled":false,"isLocked":false,"elementsMetadata":[],"slideId":"637629098780933985","enableDocumentContentUpdater":true,"version":"2.0"}]]></TemplafySlideTemplateConfiguration>
</file>

<file path=customXml/item40.xml><?xml version="1.0" encoding="utf-8"?>
<TemplafySlideFormConfiguration><![CDATA[{"formFields":[],"formDataEntries":[]}]]></TemplafySlideFormConfiguration>
</file>

<file path=customXml/item41.xml><?xml version="1.0" encoding="utf-8"?>
<TemplafySlideFormConfiguration><![CDATA[{"formFields":[],"formDataEntries":[]}]]></TemplafySlideFormConfiguration>
</file>

<file path=customXml/item42.xml><?xml version="1.0" encoding="utf-8"?>
<TemplafySlideTemplateConfiguration><![CDATA[{"slideVersion":1,"isValidatorEnabled":false,"isLocked":false,"elementsMetadata":[],"slideId":"637629098780938389","enableDocumentContentUpdater":true,"version":"2.0"}]]></TemplafySlideTemplateConfiguration>
</file>

<file path=customXml/item43.xml><?xml version="1.0" encoding="utf-8"?>
<TemplafySlideTemplateConfiguration><![CDATA[{"slideVersion":1,"isValidatorEnabled":false,"isLocked":false,"elementsMetadata":[],"slideId":"637629098780861368","enableDocumentContentUpdater":true,"version":"2.0"}]]></TemplafySlideTemplateConfiguration>
</file>

<file path=customXml/item44.xml><?xml version="1.0" encoding="utf-8"?>
<TemplafySlideFormConfiguration><![CDATA[{"formFields":[],"formDataEntries":[]}]]></TemplafySlideFormConfiguration>
</file>

<file path=customXml/item45.xml><?xml version="1.0" encoding="utf-8"?>
<TemplafySlideTemplateConfiguration><![CDATA[{"slideVersion":1,"isValidatorEnabled":false,"isLocked":false,"elementsMetadata":[],"slideId":"637629098780874432","enableDocumentContentUpdater":true,"version":"2.0"}]]></TemplafySlideTemplateConfiguration>
</file>

<file path=customXml/item46.xml><?xml version="1.0" encoding="utf-8"?>
<TemplafySlideFormConfiguration><![CDATA[{"formFields":[],"formDataEntries":[]}]]></TemplafySlideFormConfiguration>
</file>

<file path=customXml/item47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8.xml><?xml version="1.0" encoding="utf-8"?>
<TemplafyFormConfiguration><![CDATA[{"formFields":[{"required":false,"placeholder":"Title | Date | Security Setting","lines":1,"shareValue":false,"type":"textBox","name":"Footer","label":"Enter footer description","fullyQualifiedName":"Footer"}],"formDataEntries":[]}]]></TemplafyFormConfiguration>
</file>

<file path=customXml/item49.xml><?xml version="1.0" encoding="utf-8"?>
<TemplafySlideFormConfiguration><![CDATA[{"formFields":[],"formDataEntries":[]}]]></TemplafySlideFormConfiguration>
</file>

<file path=customXml/item50.xml><?xml version="1.0" encoding="utf-8"?>
<TemplafySlideTemplateConfiguration><![CDATA[{"slideVersion":1,"isValidatorEnabled":false,"isLocked":false,"elementsMetadata":[],"slideId":"637629098780808397","enableDocumentContentUpdater":true,"version":"2.0"}]]></TemplafySlideTemplateConfiguration>
</file>

<file path=customXml/item51.xml><?xml version="1.0" encoding="utf-8"?>
<TemplafySlideFormConfiguration><![CDATA[{"formFields":[],"formDataEntries":[]}]]></TemplafySlideFormConfiguration>
</file>

<file path=customXml/item52.xml><?xml version="1.0" encoding="utf-8"?>
<TemplafySlideTemplateConfiguration><![CDATA[{"slideVersion":1,"isValidatorEnabled":false,"isLocked":false,"elementsMetadata":[],"slideId":"637629098780810453","enableDocumentContentUpdater":true,"version":"2.0"}]]></TemplafySlideTemplateConfiguration>
</file>

<file path=customXml/item53.xml><?xml version="1.0" encoding="utf-8"?>
<TemplafySlideTemplateConfiguration><![CDATA[{"slideVersion":1,"isValidatorEnabled":false,"isLocked":false,"elementsMetadata":[],"slideId":"637629098780819298","enableDocumentContentUpdater":true,"version":"2.0"}]]></TemplafySlideTemplateConfiguration>
</file>

<file path=customXml/item54.xml><?xml version="1.0" encoding="utf-8"?>
<TemplafySlideFormConfiguration><![CDATA[{"formFields":[],"formDataEntries":[]}]]></TemplafySlideFormConfiguration>
</file>

<file path=customXml/item55.xml><?xml version="1.0" encoding="utf-8"?>
<TemplafySlideFormConfiguration><![CDATA[{"formFields":[],"formDataEntries":[]}]]></TemplafySlideFormConfiguration>
</file>

<file path=customXml/item56.xml><?xml version="1.0" encoding="utf-8"?>
<TemplafySlideTemplateConfiguration><![CDATA[{"slideVersion":1,"isValidatorEnabled":false,"isLocked":false,"elementsMetadata":[],"slideId":"637629098780815282","enableDocumentContentUpdater":true,"version":"2.0"}]]></TemplafySlideTemplateConfiguration>
</file>

<file path=customXml/item57.xml><?xml version="1.0" encoding="utf-8"?>
<TemplafySlideTemplateConfiguration><![CDATA[{"slideVersion":1,"isValidatorEnabled":false,"isLocked":false,"elementsMetadata":[],"slideId":"637629098780882757","enableDocumentContentUpdater":true,"version":"2.0"}]]></TemplafySlideTemplateConfiguration>
</file>

<file path=customXml/item58.xml><?xml version="1.0" encoding="utf-8"?>
<TemplafySlideFormConfiguration><![CDATA[{"formFields":[],"formDataEntries":[]}]]></TemplafySlideFormConfiguration>
</file>

<file path=customXml/item59.xml><?xml version="1.0" encoding="utf-8"?>
<TemplafySlideTemplateConfiguration><![CDATA[{"slideVersion":1,"isValidatorEnabled":false,"isLocked":false,"elementsMetadata":[],"slideId":"637629098780802172","enableDocumentContentUpdater":true,"version":"2.0"}]]></TemplafySlideTemplateConfiguration>
</file>

<file path=customXml/item60.xml><?xml version="1.0" encoding="utf-8"?>
<TemplafySlideFormConfiguration><![CDATA[{"formFields":[],"formDataEntries":[]}]]></TemplafySlideFormConfiguration>
</file>

<file path=customXml/item61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00BD3ED4-8ED9-4359-B43B-2C197BC490D9}">
  <ds:schemaRefs/>
</ds:datastoreItem>
</file>

<file path=customXml/itemProps2.xml><?xml version="1.0" encoding="utf-8"?>
<ds:datastoreItem xmlns:ds="http://schemas.openxmlformats.org/officeDocument/2006/customXml" ds:itemID="{08BA5A9A-BB8B-4F8E-93CD-455474EF7276}">
  <ds:schemaRefs/>
</ds:datastoreItem>
</file>

<file path=customXml/itemProps3.xml><?xml version="1.0" encoding="utf-8"?>
<ds:datastoreItem xmlns:ds="http://schemas.openxmlformats.org/officeDocument/2006/customXml" ds:itemID="{0A230136-8CEC-4C29-A55A-F5FA83CA887A}">
  <ds:schemaRefs/>
</ds:datastoreItem>
</file>

<file path=customXml/itemProps4.xml><?xml version="1.0" encoding="utf-8"?>
<ds:datastoreItem xmlns:ds="http://schemas.openxmlformats.org/officeDocument/2006/customXml" ds:itemID="{33C2836D-CD36-48F0-AE3F-D27BFE792AB7}">
  <ds:schemaRefs/>
</ds:datastoreItem>
</file>

<file path=customXml/itemProps5.xml><?xml version="1.0" encoding="utf-8"?>
<ds:datastoreItem xmlns:ds="http://schemas.openxmlformats.org/officeDocument/2006/customXml" ds:itemID="{988BE19C-289C-4D51-AC33-2691C170DBEA}">
  <ds:schemaRefs/>
</ds:datastoreItem>
</file>

<file path=customXml/itemProps6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elements/1.1/"/>
    <ds:schemaRef ds:uri="http://purl.org/dc/dcmitype/"/>
    <ds:schemaRef ds:uri="http://www.w3.org/XML/1998/namespace"/>
    <ds:schemaRef ds:uri="http://purl.org/dc/terms/"/>
    <ds:schemaRef ds:uri="e4aa919a-b200-49cb-beca-4c7e0810321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06670dda-0291-4061-b6e0-f6c0cb392c51"/>
    <ds:schemaRef ds:uri="http://schemas.microsoft.com/sharepoint/v3"/>
  </ds:schemaRefs>
</ds:datastoreItem>
</file>

<file path=customXml/itemProps7.xml><?xml version="1.0" encoding="utf-8"?>
<ds:datastoreItem xmlns:ds="http://schemas.openxmlformats.org/officeDocument/2006/customXml" ds:itemID="{C5DD1971-334A-45E9-9D2B-FB6BD8AAE58A}">
  <ds:schemaRefs/>
</ds:datastoreItem>
</file>

<file path=customXml/itemProps8.xml><?xml version="1.0" encoding="utf-8"?>
<ds:datastoreItem xmlns:ds="http://schemas.openxmlformats.org/officeDocument/2006/customXml" ds:itemID="{CAFED163-E143-4EEB-A735-81C1226AD9B4}">
  <ds:schemaRefs/>
</ds:datastoreItem>
</file>

<file path=customXml/itemProps9.xml><?xml version="1.0" encoding="utf-8"?>
<ds:datastoreItem xmlns:ds="http://schemas.openxmlformats.org/officeDocument/2006/customXml" ds:itemID="{0BB3C309-8520-4616-80FC-2CB10D5B83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4aa919a-b200-49cb-beca-4c7e0810321e"/>
    <ds:schemaRef ds:uri="06670dda-0291-4061-b6e0-f6c0cb392c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10.xml><?xml version="1.0" encoding="utf-8"?>
<ds:datastoreItem xmlns:ds="http://schemas.openxmlformats.org/officeDocument/2006/customXml" ds:itemID="{6B831CAE-95E4-452E-B3C5-B76AAD78A52A}">
  <ds:schemaRefs/>
</ds:datastoreItem>
</file>

<file path=customXml/itemProps11.xml><?xml version="1.0" encoding="utf-8"?>
<ds:datastoreItem xmlns:ds="http://schemas.openxmlformats.org/officeDocument/2006/customXml" ds:itemID="{75BD4175-2A6A-457D-B03C-89D272FF4835}">
  <ds:schemaRefs/>
</ds:datastoreItem>
</file>

<file path=customXml/itemProps12.xml><?xml version="1.0" encoding="utf-8"?>
<ds:datastoreItem xmlns:ds="http://schemas.openxmlformats.org/officeDocument/2006/customXml" ds:itemID="{B7066F7B-EA61-4071-B961-E1FA19724DC0}">
  <ds:schemaRefs/>
</ds:datastoreItem>
</file>

<file path=customXml/itemProps13.xml><?xml version="1.0" encoding="utf-8"?>
<ds:datastoreItem xmlns:ds="http://schemas.openxmlformats.org/officeDocument/2006/customXml" ds:itemID="{3D719615-E8C3-42D3-B19D-076A1FC4620D}">
  <ds:schemaRefs/>
</ds:datastoreItem>
</file>

<file path=customXml/itemProps14.xml><?xml version="1.0" encoding="utf-8"?>
<ds:datastoreItem xmlns:ds="http://schemas.openxmlformats.org/officeDocument/2006/customXml" ds:itemID="{56A99A3E-A648-468D-B568-4C0AD8B35441}">
  <ds:schemaRefs/>
</ds:datastoreItem>
</file>

<file path=customXml/itemProps15.xml><?xml version="1.0" encoding="utf-8"?>
<ds:datastoreItem xmlns:ds="http://schemas.openxmlformats.org/officeDocument/2006/customXml" ds:itemID="{1AB4A281-5EBA-4CA1-A536-6B29C98890B6}">
  <ds:schemaRefs/>
</ds:datastoreItem>
</file>

<file path=customXml/itemProps16.xml><?xml version="1.0" encoding="utf-8"?>
<ds:datastoreItem xmlns:ds="http://schemas.openxmlformats.org/officeDocument/2006/customXml" ds:itemID="{7BAA13C3-64B7-4D7A-BA49-B0CCD43E2049}">
  <ds:schemaRefs/>
</ds:datastoreItem>
</file>

<file path=customXml/itemProps17.xml><?xml version="1.0" encoding="utf-8"?>
<ds:datastoreItem xmlns:ds="http://schemas.openxmlformats.org/officeDocument/2006/customXml" ds:itemID="{7FD631D3-3AB7-43F0-9FCE-6F65E4127A72}">
  <ds:schemaRefs/>
</ds:datastoreItem>
</file>

<file path=customXml/itemProps18.xml><?xml version="1.0" encoding="utf-8"?>
<ds:datastoreItem xmlns:ds="http://schemas.openxmlformats.org/officeDocument/2006/customXml" ds:itemID="{682BF6E6-8993-4A0E-A615-E24230C37DAC}">
  <ds:schemaRefs/>
</ds:datastoreItem>
</file>

<file path=customXml/itemProps19.xml><?xml version="1.0" encoding="utf-8"?>
<ds:datastoreItem xmlns:ds="http://schemas.openxmlformats.org/officeDocument/2006/customXml" ds:itemID="{3915BD4A-04C4-49F2-B0B9-3E7D336EC799}">
  <ds:schemaRefs/>
</ds:datastoreItem>
</file>

<file path=customXml/itemProps20.xml><?xml version="1.0" encoding="utf-8"?>
<ds:datastoreItem xmlns:ds="http://schemas.openxmlformats.org/officeDocument/2006/customXml" ds:itemID="{EC53C6C7-14A0-4237-9C9A-FA78B37E53AB}">
  <ds:schemaRefs/>
</ds:datastoreItem>
</file>

<file path=customXml/itemProps21.xml><?xml version="1.0" encoding="utf-8"?>
<ds:datastoreItem xmlns:ds="http://schemas.openxmlformats.org/officeDocument/2006/customXml" ds:itemID="{CBB24767-B696-4303-95AD-C1F5811D028F}">
  <ds:schemaRefs/>
</ds:datastoreItem>
</file>

<file path=customXml/itemProps22.xml><?xml version="1.0" encoding="utf-8"?>
<ds:datastoreItem xmlns:ds="http://schemas.openxmlformats.org/officeDocument/2006/customXml" ds:itemID="{9DF1E77E-93BB-43A3-BEC8-6478C2794FA6}">
  <ds:schemaRefs/>
</ds:datastoreItem>
</file>

<file path=customXml/itemProps23.xml><?xml version="1.0" encoding="utf-8"?>
<ds:datastoreItem xmlns:ds="http://schemas.openxmlformats.org/officeDocument/2006/customXml" ds:itemID="{6291F803-2EF0-4E47-96D6-4796950CE6BD}">
  <ds:schemaRefs/>
</ds:datastoreItem>
</file>

<file path=customXml/itemProps24.xml><?xml version="1.0" encoding="utf-8"?>
<ds:datastoreItem xmlns:ds="http://schemas.openxmlformats.org/officeDocument/2006/customXml" ds:itemID="{1669606D-CDD4-43E6-985A-81776140D176}">
  <ds:schemaRefs/>
</ds:datastoreItem>
</file>

<file path=customXml/itemProps25.xml><?xml version="1.0" encoding="utf-8"?>
<ds:datastoreItem xmlns:ds="http://schemas.openxmlformats.org/officeDocument/2006/customXml" ds:itemID="{AC107CF9-7144-4997-BE7D-1990BE189C9A}">
  <ds:schemaRefs/>
</ds:datastoreItem>
</file>

<file path=customXml/itemProps26.xml><?xml version="1.0" encoding="utf-8"?>
<ds:datastoreItem xmlns:ds="http://schemas.openxmlformats.org/officeDocument/2006/customXml" ds:itemID="{AD9376BE-3D3E-4586-9139-069C1651B477}">
  <ds:schemaRefs/>
</ds:datastoreItem>
</file>

<file path=customXml/itemProps27.xml><?xml version="1.0" encoding="utf-8"?>
<ds:datastoreItem xmlns:ds="http://schemas.openxmlformats.org/officeDocument/2006/customXml" ds:itemID="{95AE8F77-448C-4B7C-8669-DC6D4241F9CE}">
  <ds:schemaRefs/>
</ds:datastoreItem>
</file>

<file path=customXml/itemProps28.xml><?xml version="1.0" encoding="utf-8"?>
<ds:datastoreItem xmlns:ds="http://schemas.openxmlformats.org/officeDocument/2006/customXml" ds:itemID="{7C5C44AF-FBA1-4FF3-8C07-71728D2581FD}">
  <ds:schemaRefs/>
</ds:datastoreItem>
</file>

<file path=customXml/itemProps29.xml><?xml version="1.0" encoding="utf-8"?>
<ds:datastoreItem xmlns:ds="http://schemas.openxmlformats.org/officeDocument/2006/customXml" ds:itemID="{647B6612-4C79-45CE-9A32-14C2D37B46F1}">
  <ds:schemaRefs/>
</ds:datastoreItem>
</file>

<file path=customXml/itemProps30.xml><?xml version="1.0" encoding="utf-8"?>
<ds:datastoreItem xmlns:ds="http://schemas.openxmlformats.org/officeDocument/2006/customXml" ds:itemID="{162E1B2B-387B-423C-8FB0-129D0EE7DD83}">
  <ds:schemaRefs/>
</ds:datastoreItem>
</file>

<file path=customXml/itemProps31.xml><?xml version="1.0" encoding="utf-8"?>
<ds:datastoreItem xmlns:ds="http://schemas.openxmlformats.org/officeDocument/2006/customXml" ds:itemID="{65B44A9F-1851-42AC-AD3C-FFC343A07D3A}">
  <ds:schemaRefs/>
</ds:datastoreItem>
</file>

<file path=customXml/itemProps32.xml><?xml version="1.0" encoding="utf-8"?>
<ds:datastoreItem xmlns:ds="http://schemas.openxmlformats.org/officeDocument/2006/customXml" ds:itemID="{1D3A887C-FC1C-482E-BE66-F9B66B0A6227}">
  <ds:schemaRefs/>
</ds:datastoreItem>
</file>

<file path=customXml/itemProps33.xml><?xml version="1.0" encoding="utf-8"?>
<ds:datastoreItem xmlns:ds="http://schemas.openxmlformats.org/officeDocument/2006/customXml" ds:itemID="{0C0AD6D7-0AAB-4CF7-9869-E9E315BAF875}">
  <ds:schemaRefs/>
</ds:datastoreItem>
</file>

<file path=customXml/itemProps34.xml><?xml version="1.0" encoding="utf-8"?>
<ds:datastoreItem xmlns:ds="http://schemas.openxmlformats.org/officeDocument/2006/customXml" ds:itemID="{30338C60-725E-4230-8732-6C1737FFCF6F}">
  <ds:schemaRefs/>
</ds:datastoreItem>
</file>

<file path=customXml/itemProps35.xml><?xml version="1.0" encoding="utf-8"?>
<ds:datastoreItem xmlns:ds="http://schemas.openxmlformats.org/officeDocument/2006/customXml" ds:itemID="{AE04A922-1222-46EA-85D1-620CD08A927B}">
  <ds:schemaRefs/>
</ds:datastoreItem>
</file>

<file path=customXml/itemProps36.xml><?xml version="1.0" encoding="utf-8"?>
<ds:datastoreItem xmlns:ds="http://schemas.openxmlformats.org/officeDocument/2006/customXml" ds:itemID="{FC77B9F3-C094-489B-8C01-F272F0AF68C6}">
  <ds:schemaRefs/>
</ds:datastoreItem>
</file>

<file path=customXml/itemProps37.xml><?xml version="1.0" encoding="utf-8"?>
<ds:datastoreItem xmlns:ds="http://schemas.openxmlformats.org/officeDocument/2006/customXml" ds:itemID="{C67D3CDE-4F82-4339-9EA4-1EEE33A61958}">
  <ds:schemaRefs/>
</ds:datastoreItem>
</file>

<file path=customXml/itemProps38.xml><?xml version="1.0" encoding="utf-8"?>
<ds:datastoreItem xmlns:ds="http://schemas.openxmlformats.org/officeDocument/2006/customXml" ds:itemID="{C89A946A-C258-4267-A263-69DA8374B547}">
  <ds:schemaRefs/>
</ds:datastoreItem>
</file>

<file path=customXml/itemProps39.xml><?xml version="1.0" encoding="utf-8"?>
<ds:datastoreItem xmlns:ds="http://schemas.openxmlformats.org/officeDocument/2006/customXml" ds:itemID="{364650BF-04B4-4ADF-AE61-286BFE5AF2AD}">
  <ds:schemaRefs/>
</ds:datastoreItem>
</file>

<file path=customXml/itemProps40.xml><?xml version="1.0" encoding="utf-8"?>
<ds:datastoreItem xmlns:ds="http://schemas.openxmlformats.org/officeDocument/2006/customXml" ds:itemID="{25EDB0A7-1862-4F58-81F8-88FFEB27A481}">
  <ds:schemaRefs/>
</ds:datastoreItem>
</file>

<file path=customXml/itemProps41.xml><?xml version="1.0" encoding="utf-8"?>
<ds:datastoreItem xmlns:ds="http://schemas.openxmlformats.org/officeDocument/2006/customXml" ds:itemID="{8C320EF3-E45D-49A1-86A9-B0DA20C7CC04}">
  <ds:schemaRefs/>
</ds:datastoreItem>
</file>

<file path=customXml/itemProps42.xml><?xml version="1.0" encoding="utf-8"?>
<ds:datastoreItem xmlns:ds="http://schemas.openxmlformats.org/officeDocument/2006/customXml" ds:itemID="{A20E27A4-6C3C-428D-ADE7-7DC089C0CD46}">
  <ds:schemaRefs/>
</ds:datastoreItem>
</file>

<file path=customXml/itemProps43.xml><?xml version="1.0" encoding="utf-8"?>
<ds:datastoreItem xmlns:ds="http://schemas.openxmlformats.org/officeDocument/2006/customXml" ds:itemID="{921C0A0B-EE13-4908-9C41-3E7EDF526068}">
  <ds:schemaRefs/>
</ds:datastoreItem>
</file>

<file path=customXml/itemProps44.xml><?xml version="1.0" encoding="utf-8"?>
<ds:datastoreItem xmlns:ds="http://schemas.openxmlformats.org/officeDocument/2006/customXml" ds:itemID="{D4B66AC3-71C4-4908-9595-93E8B8D76E97}">
  <ds:schemaRefs/>
</ds:datastoreItem>
</file>

<file path=customXml/itemProps45.xml><?xml version="1.0" encoding="utf-8"?>
<ds:datastoreItem xmlns:ds="http://schemas.openxmlformats.org/officeDocument/2006/customXml" ds:itemID="{2BC0DC1D-8D15-4194-9A1A-EDACA544CFA6}">
  <ds:schemaRefs/>
</ds:datastoreItem>
</file>

<file path=customXml/itemProps46.xml><?xml version="1.0" encoding="utf-8"?>
<ds:datastoreItem xmlns:ds="http://schemas.openxmlformats.org/officeDocument/2006/customXml" ds:itemID="{F82E9EAE-C942-4F71-8479-8192B35558E2}">
  <ds:schemaRefs/>
</ds:datastoreItem>
</file>

<file path=customXml/itemProps47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48.xml><?xml version="1.0" encoding="utf-8"?>
<ds:datastoreItem xmlns:ds="http://schemas.openxmlformats.org/officeDocument/2006/customXml" ds:itemID="{43BC5722-1D5B-4915-8247-E6D5F513E549}">
  <ds:schemaRefs/>
</ds:datastoreItem>
</file>

<file path=customXml/itemProps49.xml><?xml version="1.0" encoding="utf-8"?>
<ds:datastoreItem xmlns:ds="http://schemas.openxmlformats.org/officeDocument/2006/customXml" ds:itemID="{2A1B10AF-5356-4D21-9E16-9423E20937FC}">
  <ds:schemaRefs/>
</ds:datastoreItem>
</file>

<file path=customXml/itemProps50.xml><?xml version="1.0" encoding="utf-8"?>
<ds:datastoreItem xmlns:ds="http://schemas.openxmlformats.org/officeDocument/2006/customXml" ds:itemID="{1BCEDA00-0BCE-4F19-A380-8AED6A66E762}">
  <ds:schemaRefs/>
</ds:datastoreItem>
</file>

<file path=customXml/itemProps51.xml><?xml version="1.0" encoding="utf-8"?>
<ds:datastoreItem xmlns:ds="http://schemas.openxmlformats.org/officeDocument/2006/customXml" ds:itemID="{00121D97-98F5-4946-8A5D-87D090F11338}">
  <ds:schemaRefs/>
</ds:datastoreItem>
</file>

<file path=customXml/itemProps52.xml><?xml version="1.0" encoding="utf-8"?>
<ds:datastoreItem xmlns:ds="http://schemas.openxmlformats.org/officeDocument/2006/customXml" ds:itemID="{915452D2-9D6B-41D9-99FD-4D1CF211FA39}">
  <ds:schemaRefs/>
</ds:datastoreItem>
</file>

<file path=customXml/itemProps53.xml><?xml version="1.0" encoding="utf-8"?>
<ds:datastoreItem xmlns:ds="http://schemas.openxmlformats.org/officeDocument/2006/customXml" ds:itemID="{56B316EE-D9D1-44C3-8C00-AE433A63C836}">
  <ds:schemaRefs/>
</ds:datastoreItem>
</file>

<file path=customXml/itemProps54.xml><?xml version="1.0" encoding="utf-8"?>
<ds:datastoreItem xmlns:ds="http://schemas.openxmlformats.org/officeDocument/2006/customXml" ds:itemID="{DDCC6A1B-7673-40E9-AC3E-C0D8F2784A83}">
  <ds:schemaRefs/>
</ds:datastoreItem>
</file>

<file path=customXml/itemProps55.xml><?xml version="1.0" encoding="utf-8"?>
<ds:datastoreItem xmlns:ds="http://schemas.openxmlformats.org/officeDocument/2006/customXml" ds:itemID="{2EF89111-4289-441B-97BD-A2D8E126532F}">
  <ds:schemaRefs/>
</ds:datastoreItem>
</file>

<file path=customXml/itemProps56.xml><?xml version="1.0" encoding="utf-8"?>
<ds:datastoreItem xmlns:ds="http://schemas.openxmlformats.org/officeDocument/2006/customXml" ds:itemID="{E4C8E36C-E4C3-4DF8-B9A8-546312449852}">
  <ds:schemaRefs/>
</ds:datastoreItem>
</file>

<file path=customXml/itemProps57.xml><?xml version="1.0" encoding="utf-8"?>
<ds:datastoreItem xmlns:ds="http://schemas.openxmlformats.org/officeDocument/2006/customXml" ds:itemID="{5265E46D-0749-47B1-8243-3C63764C0EFC}">
  <ds:schemaRefs/>
</ds:datastoreItem>
</file>

<file path=customXml/itemProps58.xml><?xml version="1.0" encoding="utf-8"?>
<ds:datastoreItem xmlns:ds="http://schemas.openxmlformats.org/officeDocument/2006/customXml" ds:itemID="{E3B787A2-A83F-4E87-A90A-111C61F62E24}">
  <ds:schemaRefs/>
</ds:datastoreItem>
</file>

<file path=customXml/itemProps59.xml><?xml version="1.0" encoding="utf-8"?>
<ds:datastoreItem xmlns:ds="http://schemas.openxmlformats.org/officeDocument/2006/customXml" ds:itemID="{BE3BB7DD-0C86-4747-A387-5C5D191BB970}">
  <ds:schemaRefs/>
</ds:datastoreItem>
</file>

<file path=customXml/itemProps60.xml><?xml version="1.0" encoding="utf-8"?>
<ds:datastoreItem xmlns:ds="http://schemas.openxmlformats.org/officeDocument/2006/customXml" ds:itemID="{D5DFDA8F-B725-4CD6-A843-7349EA123794}">
  <ds:schemaRefs/>
</ds:datastoreItem>
</file>

<file path=customXml/itemProps61.xml><?xml version="1.0" encoding="utf-8"?>
<ds:datastoreItem xmlns:ds="http://schemas.openxmlformats.org/officeDocument/2006/customXml" ds:itemID="{6A0018E2-8AA5-4CE6-A43B-7E69D37BB663}">
  <ds:schemaRefs/>
</ds:datastoreItem>
</file>

<file path=docMetadata/LabelInfo.xml><?xml version="1.0" encoding="utf-8"?>
<clbl:labelList xmlns:clbl="http://schemas.microsoft.com/office/2020/mipLabelMetadata">
  <clbl:label id="{2d0b1989-8fc8-4a69-bcac-d46889461ba5}" enabled="1" method="Privileged" siteId="{3dd8961f-e488-4e60-8e11-a82d994e183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</TotalTime>
  <Words>1695</Words>
  <Application>Microsoft Office PowerPoint</Application>
  <PresentationFormat>Widescreen</PresentationFormat>
  <Paragraphs>225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Arial</vt:lpstr>
      <vt:lpstr>Consolas</vt:lpstr>
      <vt:lpstr>Klavika Bold</vt:lpstr>
      <vt:lpstr>Klavika Light</vt:lpstr>
      <vt:lpstr>Klavika Medium</vt:lpstr>
      <vt:lpstr>Klavika Regular</vt:lpstr>
      <vt:lpstr>AMD Corporate Template_Dark</vt:lpstr>
      <vt:lpstr>AMD Unsloth GRPO Fine-tuning</vt:lpstr>
      <vt:lpstr>Notebook access</vt:lpstr>
      <vt:lpstr>Agenda</vt:lpstr>
      <vt:lpstr>Part 1: The Concepts</vt:lpstr>
      <vt:lpstr>What is a Large Language Model?</vt:lpstr>
      <vt:lpstr>What is fine-tuning? Why do it?</vt:lpstr>
      <vt:lpstr>LoRA and QLoRA</vt:lpstr>
      <vt:lpstr>Training methodology: SFT and GRPO</vt:lpstr>
      <vt:lpstr>The fine-tuning pipeline</vt:lpstr>
      <vt:lpstr>Unsloth</vt:lpstr>
      <vt:lpstr>Part 2: Hands-On</vt:lpstr>
      <vt:lpstr>A game of Sudoku</vt:lpstr>
      <vt:lpstr>AMD Unsloth fine-tuning workshop</vt:lpstr>
      <vt:lpstr>GPU visibility and health</vt:lpstr>
      <vt:lpstr>Driving the notebook</vt:lpstr>
      <vt:lpstr>Fine-tuning complete</vt:lpstr>
      <vt:lpstr>Troubleshooting</vt:lpstr>
      <vt:lpstr>Learn more</vt:lpstr>
      <vt:lpstr>PowerPoint Presentation</vt:lpstr>
    </vt:vector>
  </TitlesOfParts>
  <Manager>&lt;Comms manager name here&gt;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AMD Corporate Powerpoint Template</dc:subject>
  <dc:creator>Federico Gasquet</dc:creator>
  <cp:keywords>AMD Corporate Powerpoint Template</cp:keywords>
  <dc:description/>
  <cp:lastModifiedBy>Zhou, Eddie</cp:lastModifiedBy>
  <cp:revision>42</cp:revision>
  <cp:lastPrinted>2020-04-30T18:59:47Z</cp:lastPrinted>
  <dcterms:created xsi:type="dcterms:W3CDTF">2021-04-19T14:31:00Z</dcterms:created>
  <dcterms:modified xsi:type="dcterms:W3CDTF">2026-10-02T18:12:32Z</dcterms:modified>
  <cp:category>AMD Corporate Powerpoint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ublisher">
    <vt:lpwstr>AMD Creative Studio</vt:lpwstr>
  </property>
  <property fmtid="{D5CDD505-2E9C-101B-9397-08002B2CF9AE}" pid="3" name="Date completed">
    <vt:lpwstr>April 30, 2020</vt:lpwstr>
  </property>
  <property fmtid="{D5CDD505-2E9C-101B-9397-08002B2CF9AE}" pid="4" name="MS_Version">
    <vt:lpwstr>1.0.0</vt:lpwstr>
  </property>
  <property fmtid="{D5CDD505-2E9C-101B-9397-08002B2CF9AE}" pid="5" name="TemplafyTimeStamp">
    <vt:lpwstr>2021-07-26T15:24:38</vt:lpwstr>
  </property>
  <property fmtid="{D5CDD505-2E9C-101B-9397-08002B2CF9AE}" pid="6" name="ClassificationContentMarkingHeaderLocations">
    <vt:lpwstr>AMD Corporate Template_Dark:6</vt:lpwstr>
  </property>
  <property fmtid="{D5CDD505-2E9C-101B-9397-08002B2CF9AE}" pid="7" name="ClassificationContentMarkingHeaderText">
    <vt:lpwstr>Public</vt:lpwstr>
  </property>
</Properties>
</file>